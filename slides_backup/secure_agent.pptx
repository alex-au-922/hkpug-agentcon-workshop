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357" r:id="rId3"/>
    <p:sldId id="262" r:id="rId4"/>
    <p:sldId id="290" r:id="rId5"/>
    <p:sldId id="264" r:id="rId6"/>
    <p:sldId id="347" r:id="rId7"/>
    <p:sldId id="265" r:id="rId8"/>
    <p:sldId id="327" r:id="rId9"/>
    <p:sldId id="258" r:id="rId10"/>
    <p:sldId id="260" r:id="rId11"/>
    <p:sldId id="348" r:id="rId12"/>
    <p:sldId id="323" r:id="rId13"/>
    <p:sldId id="326" r:id="rId14"/>
    <p:sldId id="352" r:id="rId15"/>
    <p:sldId id="349" r:id="rId16"/>
    <p:sldId id="324" r:id="rId17"/>
    <p:sldId id="355" r:id="rId18"/>
    <p:sldId id="353" r:id="rId19"/>
    <p:sldId id="263" r:id="rId20"/>
    <p:sldId id="350" r:id="rId21"/>
    <p:sldId id="321" r:id="rId22"/>
    <p:sldId id="351" r:id="rId23"/>
    <p:sldId id="354" r:id="rId24"/>
    <p:sldId id="320" r:id="rId25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45B194E-C1AD-4BBB-AE61-B768B4DA40B3}">
          <p14:sldIdLst>
            <p14:sldId id="256"/>
            <p14:sldId id="357"/>
            <p14:sldId id="262"/>
            <p14:sldId id="290"/>
          </p14:sldIdLst>
        </p14:section>
        <p14:section name="overview" id="{6A376155-FD96-49BE-9135-0148A0D5D313}">
          <p14:sldIdLst>
            <p14:sldId id="264"/>
            <p14:sldId id="347"/>
            <p14:sldId id="265"/>
            <p14:sldId id="327"/>
          </p14:sldIdLst>
        </p14:section>
        <p14:section name="Principle 1: Shift Left to Layer 0" id="{93B16B90-5936-4D28-9250-7CAEBD93F147}">
          <p14:sldIdLst>
            <p14:sldId id="258"/>
            <p14:sldId id="260"/>
            <p14:sldId id="348"/>
          </p14:sldIdLst>
        </p14:section>
        <p14:section name="Principle 2: Zero Trust Compute" id="{70469078-9B3F-4FD9-B919-DEDF21B7C7CB}">
          <p14:sldIdLst>
            <p14:sldId id="323"/>
            <p14:sldId id="326"/>
            <p14:sldId id="352"/>
            <p14:sldId id="349"/>
          </p14:sldIdLst>
        </p14:section>
        <p14:section name="Principle 3: Inherence over Possession" id="{1958E87A-F07F-485D-8208-630500E5AD16}">
          <p14:sldIdLst>
            <p14:sldId id="324"/>
            <p14:sldId id="355"/>
            <p14:sldId id="353"/>
            <p14:sldId id="263"/>
            <p14:sldId id="350"/>
          </p14:sldIdLst>
        </p14:section>
        <p14:section name="Principle 4: Exfiltration Prevention" id="{36D6889A-503F-4CDC-B0EB-AFD715EB6959}">
          <p14:sldIdLst>
            <p14:sldId id="321"/>
            <p14:sldId id="351"/>
          </p14:sldIdLst>
        </p14:section>
        <p14:section name="Q &amp; A" id="{59B7E241-1697-44B7-8C3A-FE481061B92F}">
          <p14:sldIdLst>
            <p14:sldId id="354"/>
            <p14:sldId id="32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8CCB41-4382-4A53-AEF4-83D4857133CE}" v="1001" dt="2026-04-10T17:19:59.841"/>
    <p1510:client id="{25562637-1E93-2046-A5A7-6C71E1CC7984}" v="355" dt="2026-04-11T08:15:51.016"/>
    <p1510:client id="{6705C16B-7C3A-0FB0-AD25-10024348F78D}" v="822" dt="2026-04-11T08:10:01.594"/>
    <p1510:client id="{95B79D92-D273-6345-6FB2-58CEDD83C167}" v="316" dt="2026-04-11T02:22:22.0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27102A9-8310-4765-A935-A1911B00CA55}" styleName="淺色樣式 1 - 輔色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43"/>
    <p:restoredTop sz="94669"/>
  </p:normalViewPr>
  <p:slideViewPr>
    <p:cSldViewPr snapToGrid="0">
      <p:cViewPr varScale="1">
        <p:scale>
          <a:sx n="101" d="100"/>
          <a:sy n="101" d="100"/>
        </p:scale>
        <p:origin x="6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D08623-A50E-4171-8481-EE186B2AFA99}" type="datetimeFigureOut">
              <a:rPr lang="zh-HK" altLang="en-US" smtClean="0"/>
              <a:t>11/04/26</a:t>
            </a:fld>
            <a:endParaRPr lang="zh-HK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HK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1EE1BA-8BB6-4C72-8BDC-A777F0ECE618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155076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3E0EBB78-61F1-0E7B-BA85-08A2CC6FD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67111e8d22_0_136:notes">
            <a:extLst>
              <a:ext uri="{FF2B5EF4-FFF2-40B4-BE49-F238E27FC236}">
                <a16:creationId xmlns:a16="http://schemas.microsoft.com/office/drawing/2014/main" id="{13025EE6-C5A5-B122-B671-2160C64B07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67111e8d22_0_136:notes">
            <a:extLst>
              <a:ext uri="{FF2B5EF4-FFF2-40B4-BE49-F238E27FC236}">
                <a16:creationId xmlns:a16="http://schemas.microsoft.com/office/drawing/2014/main" id="{55EEF057-43E1-0C72-901A-0C2B8CF378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8338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67111e8d22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67111e8d22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6AA7F-FDEB-4DC5-99D9-C7C58735C33E}" type="slidenum">
              <a:rPr lang="zh-HK" altLang="en-US" smtClean="0"/>
              <a:t>4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748079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69dea67f9d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69dea67f9d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5DC96-3E37-7B9A-DEC5-9E6311DB3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288CDF-A37C-8D45-D111-072C5B39D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HK"/>
              <a:t>Click to edit Master subtitle style</a:t>
            </a:r>
            <a:endParaRPr lang="zh-HK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D8429-6698-9287-E6C3-95B6A2B52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A67C6-D67C-4C48-8E27-5231EB9358C5}" type="datetimeFigureOut">
              <a:rPr lang="zh-HK" altLang="en-US" smtClean="0"/>
              <a:t>11/04/26</a:t>
            </a:fld>
            <a:endParaRPr lang="zh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00FF8-15D2-228A-1B91-95BD4DC3F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CDB0E-B1B9-B6E3-0145-425A51F26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C024-EE88-4926-90D5-5A002D2C8AC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4529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B8835-85C2-BD6E-1DBA-E723E010E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118E9-09FD-F9D0-F691-DA2E5BACA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AB730-E749-4530-BFFE-309D1491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A67C6-D67C-4C48-8E27-5231EB9358C5}" type="datetimeFigureOut">
              <a:rPr lang="zh-HK" altLang="en-US" smtClean="0"/>
              <a:t>11/04/26</a:t>
            </a:fld>
            <a:endParaRPr lang="zh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A02E8-BAD7-E58F-E0EE-81F405D2C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3B78E-DB79-9AA7-9873-464490C1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C024-EE88-4926-90D5-5A002D2C8AC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65792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997F8-B7AC-5B7E-4DC0-15946AEB8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5C5C5-2364-6F3E-19B4-4AB3EDAFC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B4315-70D4-A3A9-E46F-AC0D7426C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A67C6-D67C-4C48-8E27-5231EB9358C5}" type="datetimeFigureOut">
              <a:rPr lang="zh-HK" altLang="en-US" smtClean="0"/>
              <a:t>11/04/26</a:t>
            </a:fld>
            <a:endParaRPr lang="zh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C7557-3B51-CDBE-8302-86EE13207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DB8C9-3332-4BE5-1DC8-80FF3AFC8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C024-EE88-4926-90D5-5A002D2C8AC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267842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94224-4F1A-A687-3EA5-21F95BFCD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C8B99-0B5B-D59A-1C89-ADFED11827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1AC088-F9D9-E958-B142-31137C4AE3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C003F1-4468-D21E-E978-629847956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A67C6-D67C-4C48-8E27-5231EB9358C5}" type="datetimeFigureOut">
              <a:rPr lang="zh-HK" altLang="en-US" smtClean="0"/>
              <a:t>11/04/26</a:t>
            </a:fld>
            <a:endParaRPr lang="zh-HK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8FAB9-29AB-B43F-DA57-B59A8AFF3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A0A6FF-61E4-9953-1158-33F3B684E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C024-EE88-4926-90D5-5A002D2C8AC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90312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887EA-4A82-4723-E579-458DE23AF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D538E2-0F52-2207-041A-A6F7EF0F7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5AA5F1-6357-07DC-BBC4-F14F55102A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E21BCD-328F-286E-E2A5-5E1ACC6C50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B358FC-9020-4B90-E53F-C8EAF8A9CB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A22142-C094-30C5-5C85-FC3DDB6EB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A67C6-D67C-4C48-8E27-5231EB9358C5}" type="datetimeFigureOut">
              <a:rPr lang="zh-HK" altLang="en-US" smtClean="0"/>
              <a:t>11/04/26</a:t>
            </a:fld>
            <a:endParaRPr lang="zh-HK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AE4CAA-D74B-AA0F-3709-3FB87D32D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F3F641-89A5-14C0-D2EE-EA841CDFF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C024-EE88-4926-90D5-5A002D2C8AC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74258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3AAEA-31EC-197F-760F-3FCB6D9A8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2C7665-EBF6-795E-E46C-8345903AD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A67C6-D67C-4C48-8E27-5231EB9358C5}" type="datetimeFigureOut">
              <a:rPr lang="zh-HK" altLang="en-US" smtClean="0"/>
              <a:t>11/04/26</a:t>
            </a:fld>
            <a:endParaRPr lang="zh-HK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9593D0-E9AB-9529-E526-80FB19AD4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44297D-DBBE-3A61-12A5-1DE884754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C024-EE88-4926-90D5-5A002D2C8AC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241108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479832-21D0-CAB3-6192-6E920F3ED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A67C6-D67C-4C48-8E27-5231EB9358C5}" type="datetimeFigureOut">
              <a:rPr lang="zh-HK" altLang="en-US" smtClean="0"/>
              <a:t>11/04/26</a:t>
            </a:fld>
            <a:endParaRPr lang="zh-HK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743D43-22DB-329B-B941-D15231D97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E0445-277F-46C6-512C-A05BBB544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C024-EE88-4926-90D5-5A002D2C8AC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747104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5C0BB-E704-FAAE-73BA-4F46A6705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37D7D-BBF6-2B6C-3EEC-EF4C60E91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92F5D6-CCE2-827C-1F95-AA08BB2CB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1C6343-9137-2FC3-B7B1-6533A670D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A67C6-D67C-4C48-8E27-5231EB9358C5}" type="datetimeFigureOut">
              <a:rPr lang="zh-HK" altLang="en-US" smtClean="0"/>
              <a:t>11/04/26</a:t>
            </a:fld>
            <a:endParaRPr lang="zh-HK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AAD8D-891B-9C0F-0332-683FCF1D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DB0912-615D-AC1D-1881-D8A601414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C024-EE88-4926-90D5-5A002D2C8AC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3153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7EB9-29C7-2B7D-376A-2427FE7F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E7A86D-50EB-D859-7596-7F768BA889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HK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27DC3F-801D-BB8B-A468-4400BD45A1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HK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8C832-30D8-790B-2676-E67877005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A67C6-D67C-4C48-8E27-5231EB9358C5}" type="datetimeFigureOut">
              <a:rPr lang="zh-HK" altLang="en-US" smtClean="0"/>
              <a:t>11/04/26</a:t>
            </a:fld>
            <a:endParaRPr lang="zh-HK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01FF-924E-FE10-CD79-8C39E7BF0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884C2-F6F2-C747-5B44-614A861C3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C024-EE88-4926-90D5-5A002D2C8AC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3420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9BC7E-B06D-71DB-3477-08CD2C4A0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442745-F4F0-90FF-71C7-60DD4B377C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0BF13-69FE-EAE0-4AC1-2CBF1FF5F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A67C6-D67C-4C48-8E27-5231EB9358C5}" type="datetimeFigureOut">
              <a:rPr lang="zh-HK" altLang="en-US" smtClean="0"/>
              <a:t>11/04/26</a:t>
            </a:fld>
            <a:endParaRPr lang="zh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1615F-7583-B3A2-5983-B925C0136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0E80B-A48D-9615-4F83-70C71D9EA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C024-EE88-4926-90D5-5A002D2C8AC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523629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AE4969-3D14-9B1D-4FE2-7A3322C55F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466176-B2FB-F573-72D6-8858E8359E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03EDD-99AB-F888-0FB8-A69F73D4F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A67C6-D67C-4C48-8E27-5231EB9358C5}" type="datetimeFigureOut">
              <a:rPr lang="zh-HK" altLang="en-US" smtClean="0"/>
              <a:t>11/04/26</a:t>
            </a:fld>
            <a:endParaRPr lang="zh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72AEE-887E-FA33-BA25-A041B75CC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72D00-4A49-645E-9530-1AD984837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C024-EE88-4926-90D5-5A002D2C8AC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7255701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2601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7375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160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00ABE6-20F4-7A21-231B-1228888EC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AC805E-1D51-034F-2ACB-710BACBF5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4AD22-93DD-7CDE-407C-A31BC22CDD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2A67C6-D67C-4C48-8E27-5231EB9358C5}" type="datetimeFigureOut">
              <a:rPr lang="zh-HK" altLang="en-US" smtClean="0"/>
              <a:t>11/04/26</a:t>
            </a:fld>
            <a:endParaRPr lang="zh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209C2-2F72-F544-A910-E2C25C52DC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F2B05-2A54-04B0-8BF7-D7A23B96A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F2C024-EE88-4926-90D5-5A002D2C8AC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78559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A3316-C7DB-4811-1403-91A231D97B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HK" sz="36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Jailbreaking the Ghost:</a:t>
            </a:r>
            <a:br>
              <a:rPr lang="en-US" altLang="zh-HK" sz="36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altLang="zh-HK" sz="36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Anatomy of a Secure Agent</a:t>
            </a:r>
            <a:endParaRPr lang="zh-HK" altLang="en-US" sz="360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DCF209-1EF3-2403-BEE6-DB80BC7A69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HK">
                <a:latin typeface="Roboto"/>
                <a:ea typeface="Roboto"/>
                <a:cs typeface="Roboto"/>
              </a:rPr>
              <a:t>Hong Kong Python User Group</a:t>
            </a:r>
          </a:p>
          <a:p>
            <a:r>
              <a:rPr lang="en-US" altLang="zh-HK">
                <a:solidFill>
                  <a:schemeClr val="tx1">
                    <a:lumMod val="49000"/>
                    <a:lumOff val="51000"/>
                  </a:schemeClr>
                </a:solidFill>
                <a:latin typeface="Roboto"/>
                <a:ea typeface="Roboto"/>
                <a:cs typeface="Roboto"/>
              </a:rPr>
              <a:t>Alex Au, Henry Wong</a:t>
            </a:r>
          </a:p>
          <a:p>
            <a:r>
              <a:rPr lang="en-US" altLang="zh-HK">
                <a:solidFill>
                  <a:schemeClr val="tx1">
                    <a:lumMod val="49000"/>
                    <a:lumOff val="51000"/>
                  </a:schemeClr>
                </a:solidFill>
                <a:latin typeface="Roboto"/>
                <a:ea typeface="Roboto"/>
                <a:cs typeface="Roboto"/>
              </a:rPr>
              <a:t>11 April 2026</a:t>
            </a:r>
            <a:endParaRPr lang="zh-HK" altLang="en-US">
              <a:solidFill>
                <a:schemeClr val="tx1">
                  <a:lumMod val="49000"/>
                  <a:lumOff val="51000"/>
                </a:schemeClr>
              </a:solidFill>
              <a:latin typeface="Roboto"/>
              <a:ea typeface="新細明體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773003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68F43977-3321-DBCC-D25A-22EEAAE4A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>
            <a:extLst>
              <a:ext uri="{FF2B5EF4-FFF2-40B4-BE49-F238E27FC236}">
                <a16:creationId xmlns:a16="http://schemas.microsoft.com/office/drawing/2014/main" id="{F7926D41-F69D-CDD9-C6C8-E69DA9C9E2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-US" altLang="zh-TW">
                <a:latin typeface="Roboto"/>
                <a:ea typeface="Roboto"/>
                <a:cs typeface="Roboto"/>
              </a:rPr>
              <a:t>Lab Login</a:t>
            </a:r>
          </a:p>
        </p:txBody>
      </p:sp>
      <p:sp>
        <p:nvSpPr>
          <p:cNvPr id="116" name="Google Shape;116;p19">
            <a:extLst>
              <a:ext uri="{FF2B5EF4-FFF2-40B4-BE49-F238E27FC236}">
                <a16:creationId xmlns:a16="http://schemas.microsoft.com/office/drawing/2014/main" id="{CCBEA5AB-42DC-CF5B-13F9-968A00AE42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608965" indent="-507365">
              <a:lnSpc>
                <a:spcPct val="150000"/>
              </a:lnSpc>
              <a:buClr>
                <a:schemeClr val="dk1"/>
              </a:buClr>
              <a:buSzPts val="2400"/>
              <a:buFont typeface="Roboto"/>
              <a:buChar char="-"/>
            </a:pPr>
            <a:r>
              <a:rPr lang="en-US" altLang="zh-TW">
                <a:solidFill>
                  <a:schemeClr val="dk1"/>
                </a:solidFill>
                <a:latin typeface="Roboto"/>
                <a:ea typeface="Roboto"/>
                <a:cs typeface="Roboto"/>
              </a:rPr>
              <a:t>Link: user-XX.agentcon-workshop.python.hk</a:t>
            </a:r>
          </a:p>
          <a:p>
            <a:pPr marL="608965" indent="-507365">
              <a:lnSpc>
                <a:spcPct val="150000"/>
              </a:lnSpc>
              <a:buClr>
                <a:srgbClr val="000000"/>
              </a:buClr>
              <a:buSzPts val="2400"/>
              <a:buFont typeface="Roboto"/>
              <a:buChar char="-"/>
            </a:pPr>
            <a:r>
              <a:rPr lang="en-US" altLang="zh-TW">
                <a:solidFill>
                  <a:schemeClr val="dk1"/>
                </a:solidFill>
                <a:latin typeface="Roboto"/>
                <a:ea typeface="Roboto"/>
                <a:cs typeface="Roboto"/>
              </a:rPr>
              <a:t>Username: user-XX</a:t>
            </a:r>
          </a:p>
          <a:p>
            <a:pPr marL="608965" indent="-507365">
              <a:lnSpc>
                <a:spcPct val="150000"/>
              </a:lnSpc>
              <a:buClr>
                <a:srgbClr val="000000"/>
              </a:buClr>
              <a:buSzPts val="2400"/>
              <a:buFont typeface="Roboto"/>
              <a:buChar char="-"/>
            </a:pPr>
            <a:r>
              <a:rPr lang="en-US" altLang="zh-TW">
                <a:solidFill>
                  <a:schemeClr val="dk1"/>
                </a:solidFill>
                <a:latin typeface="Roboto"/>
                <a:ea typeface="Roboto"/>
                <a:cs typeface="Roboto"/>
              </a:rPr>
              <a:t>Password: XXXX</a:t>
            </a:r>
          </a:p>
        </p:txBody>
      </p:sp>
    </p:spTree>
    <p:extLst>
      <p:ext uri="{BB962C8B-B14F-4D97-AF65-F5344CB8AC3E}">
        <p14:creationId xmlns:p14="http://schemas.microsoft.com/office/powerpoint/2010/main" val="2292911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zh-TW">
                <a:latin typeface="Roboto"/>
                <a:ea typeface="Roboto"/>
                <a:cs typeface="Roboto"/>
                <a:sym typeface="Roboto"/>
              </a:rPr>
              <a:t>Quick Introduction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608965" indent="-507365">
              <a:lnSpc>
                <a:spcPct val="150000"/>
              </a:lnSpc>
              <a:buClr>
                <a:schemeClr val="dk1"/>
              </a:buClr>
              <a:buSzPts val="2400"/>
              <a:buFont typeface="Roboto"/>
              <a:buChar char="-"/>
            </a:pPr>
            <a:r>
              <a:rPr lang="en-US" altLang="zh-TW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Speaker: Alex Au</a:t>
            </a:r>
            <a:endParaRPr lang="en-US" sz="2400">
              <a:solidFill>
                <a:schemeClr val="dk1"/>
              </a:solidFill>
              <a:latin typeface="Roboto"/>
              <a:ea typeface="Roboto"/>
              <a:cs typeface="Roboto"/>
            </a:endParaRPr>
          </a:p>
          <a:p>
            <a:pPr marL="1218565" lvl="1" indent="-473710">
              <a:lnSpc>
                <a:spcPct val="150000"/>
              </a:lnSpc>
              <a:buClr>
                <a:schemeClr val="dk1"/>
              </a:buClr>
              <a:buSzPts val="2000"/>
              <a:buFont typeface="Roboto"/>
              <a:buChar char="-"/>
            </a:pPr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Cloud Platform Engineer</a:t>
            </a:r>
            <a:endParaRPr>
              <a:solidFill>
                <a:schemeClr val="tx1">
                  <a:lumMod val="50000"/>
                  <a:lumOff val="50000"/>
                </a:schemeClr>
              </a:solidFill>
              <a:latin typeface="Roboto"/>
              <a:ea typeface="Roboto"/>
              <a:cs typeface="Roboto"/>
            </a:endParaRPr>
          </a:p>
          <a:p>
            <a:pPr marL="1218565" lvl="1" indent="-473710">
              <a:lnSpc>
                <a:spcPct val="150000"/>
              </a:lnSpc>
              <a:buClr>
                <a:schemeClr val="dk1"/>
              </a:buClr>
              <a:buSzPts val="2000"/>
              <a:buFont typeface="Roboto"/>
              <a:buChar char="-"/>
            </a:pPr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Roboto"/>
                <a:ea typeface="Roboto"/>
                <a:cs typeface="Roboto"/>
              </a:rPr>
              <a:t>Cybersecurity</a:t>
            </a:r>
          </a:p>
          <a:p>
            <a:pPr marL="608965" indent="-507365">
              <a:lnSpc>
                <a:spcPct val="150000"/>
              </a:lnSpc>
              <a:buClr>
                <a:schemeClr val="dk1"/>
              </a:buClr>
              <a:buSzPts val="2400"/>
              <a:buFont typeface="Roboto"/>
              <a:buChar char="-"/>
            </a:pPr>
            <a:r>
              <a:rPr lang="en-US" altLang="zh-TW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Speaker: Henry Wong</a:t>
            </a:r>
            <a:endParaRPr lang="en-US" altLang="zh-HK" sz="2400">
              <a:solidFill>
                <a:schemeClr val="dk1"/>
              </a:solidFill>
              <a:latin typeface="Roboto"/>
              <a:ea typeface="Roboto"/>
              <a:cs typeface="Roboto"/>
            </a:endParaRPr>
          </a:p>
          <a:p>
            <a:pPr marL="1218565" lvl="1" indent="-473710">
              <a:lnSpc>
                <a:spcPct val="150000"/>
              </a:lnSpc>
              <a:buClr>
                <a:schemeClr val="dk1"/>
              </a:buClr>
              <a:buSzPts val="2000"/>
              <a:buFont typeface="Roboto"/>
              <a:buChar char="-"/>
            </a:pPr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Data Scientist</a:t>
            </a:r>
            <a:endParaRPr lang="en-US" altLang="zh-HK">
              <a:solidFill>
                <a:schemeClr val="tx1">
                  <a:lumMod val="50000"/>
                  <a:lumOff val="50000"/>
                </a:schemeClr>
              </a:solidFill>
              <a:latin typeface="Roboto"/>
              <a:ea typeface="Roboto"/>
              <a:cs typeface="Roboto"/>
            </a:endParaRPr>
          </a:p>
          <a:p>
            <a:pPr marL="1218565" lvl="1" indent="-473710">
              <a:lnSpc>
                <a:spcPct val="150000"/>
              </a:lnSpc>
              <a:buClr>
                <a:schemeClr val="dk1"/>
              </a:buClr>
              <a:buSzPts val="2000"/>
              <a:buFont typeface="Roboto"/>
              <a:buChar char="-"/>
            </a:pPr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Researcher</a:t>
            </a:r>
            <a:endParaRPr lang="en-US" altLang="zh-HK">
              <a:solidFill>
                <a:schemeClr val="tx1">
                  <a:lumMod val="50000"/>
                  <a:lumOff val="50000"/>
                </a:schemeClr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118" name="Google Shape;11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86106" y="975167"/>
            <a:ext cx="2402800" cy="24028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BE11F5E-0DD3-E85D-5A33-A66AC08A7A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106" y="3759767"/>
            <a:ext cx="2402800" cy="2402800"/>
          </a:xfrm>
          <a:prstGeom prst="ellipse">
            <a:avLst/>
          </a:prstGeom>
          <a:ln w="63500" cap="rnd">
            <a:noFill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7D52A-4B3F-BF79-9A28-37A13CD93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sz="4800">
                <a:latin typeface="Roboto"/>
                <a:ea typeface="Roboto"/>
                <a:cs typeface="Roboto"/>
              </a:rPr>
              <a:t>QR Codes</a:t>
            </a:r>
            <a:endParaRPr lang="zh-HK" altLang="en-US" sz="4800">
              <a:latin typeface="Roboto"/>
              <a:cs typeface="Robo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78E737-C783-7776-AF40-99FAFD74C69A}"/>
              </a:ext>
            </a:extLst>
          </p:cNvPr>
          <p:cNvSpPr txBox="1"/>
          <p:nvPr/>
        </p:nvSpPr>
        <p:spPr>
          <a:xfrm>
            <a:off x="7656385" y="2145227"/>
            <a:ext cx="2286203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zh-HK" sz="2400">
                <a:latin typeface="Roboto"/>
                <a:ea typeface="Roboto"/>
                <a:cs typeface="Roboto"/>
              </a:rPr>
              <a:t>Code for Today</a:t>
            </a:r>
            <a:endParaRPr lang="zh-HK" altLang="en-US" sz="2400">
              <a:latin typeface="Roboto"/>
              <a:cs typeface="Robo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C5FE5B-2CCD-C812-1E59-EDBBBA7D0D7A}"/>
              </a:ext>
            </a:extLst>
          </p:cNvPr>
          <p:cNvSpPr txBox="1"/>
          <p:nvPr/>
        </p:nvSpPr>
        <p:spPr>
          <a:xfrm>
            <a:off x="2344310" y="2145227"/>
            <a:ext cx="2401619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zh-HK" sz="2400">
                <a:latin typeface="Roboto"/>
                <a:ea typeface="Roboto"/>
                <a:cs typeface="Roboto"/>
              </a:rPr>
              <a:t>Slides for Today</a:t>
            </a:r>
            <a:endParaRPr lang="zh-HK" altLang="en-US" sz="2400">
              <a:latin typeface="Roboto"/>
              <a:cs typeface="Roboto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A1F175-700B-B385-0024-9F6FC0EE71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2146" y="2606892"/>
            <a:ext cx="3154680" cy="31546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8A5FD5-3992-96A1-3984-D47FA0D154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500" y="2606892"/>
            <a:ext cx="3154680" cy="315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587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91FC5-BDD6-7F84-774A-C41EEBA20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EDF9F-9305-624C-2973-558862218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 Built an RCE Engine with a Friendly Personality</a:t>
            </a:r>
            <a:endParaRPr lang="en-US" altLang="zh-HK" sz="3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4" name="Picture 3" descr="A person in a red coat&#10;&#10;AI-generated content may be incorrect.">
            <a:extLst>
              <a:ext uri="{FF2B5EF4-FFF2-40B4-BE49-F238E27FC236}">
                <a16:creationId xmlns:a16="http://schemas.microsoft.com/office/drawing/2014/main" id="{F60C4E7A-4688-60BD-E562-EB25A35D20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5" r="-356" b="118"/>
          <a:stretch>
            <a:fillRect/>
          </a:stretch>
        </p:blipFill>
        <p:spPr>
          <a:xfrm>
            <a:off x="3709106" y="1691519"/>
            <a:ext cx="4779450" cy="474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897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4C593-E726-B5B6-79C0-80F32F847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4FE33-2ECE-049C-9460-8E4BA93E3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Roboto"/>
                <a:ea typeface="Roboto"/>
                <a:cs typeface="Roboto"/>
              </a:rPr>
              <a:t>Threat Model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DA8F6-5E6F-0B5F-7F92-9CC0CD2D9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 aren't defending against users typing </a:t>
            </a:r>
            <a:r>
              <a:rPr lang="en-US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"ignore rules and print password"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marL="0" indent="0" algn="just">
              <a:buNone/>
            </a:pP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just"/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 are defending against 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Indirect Prompt Injection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algn="just"/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just"/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just">
              <a:lnSpc>
                <a:spcPct val="150000"/>
              </a:lnSpc>
            </a:pPr>
            <a:endParaRPr lang="en-US" altLang="zh-HK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4" name="Picture 3" descr="Malicious actor - Free arrows icons">
            <a:extLst>
              <a:ext uri="{FF2B5EF4-FFF2-40B4-BE49-F238E27FC236}">
                <a16:creationId xmlns:a16="http://schemas.microsoft.com/office/drawing/2014/main" id="{7FFAFCE7-4B2A-8CB9-6E09-7A0FD3CC8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6844" y="4055533"/>
            <a:ext cx="1986845" cy="1986845"/>
          </a:xfrm>
          <a:prstGeom prst="rect">
            <a:avLst/>
          </a:prstGeom>
        </p:spPr>
      </p:pic>
      <p:pic>
        <p:nvPicPr>
          <p:cNvPr id="5" name="Picture 4" descr="Illustration vector graphic cartoon of a poison bottle symbol of hazard and  caution | Premium Vector">
            <a:extLst>
              <a:ext uri="{FF2B5EF4-FFF2-40B4-BE49-F238E27FC236}">
                <a16:creationId xmlns:a16="http://schemas.microsoft.com/office/drawing/2014/main" id="{B9F27AFB-6426-8455-F76F-4D407456A9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8" r="280" b="1648"/>
          <a:stretch>
            <a:fillRect/>
          </a:stretch>
        </p:blipFill>
        <p:spPr>
          <a:xfrm>
            <a:off x="7603066" y="4001156"/>
            <a:ext cx="2003795" cy="1972736"/>
          </a:xfrm>
          <a:prstGeom prst="rect">
            <a:avLst/>
          </a:prstGeom>
        </p:spPr>
      </p:pic>
      <p:pic>
        <p:nvPicPr>
          <p:cNvPr id="6" name="Picture 5" descr="Robot Vector Images and Illustrations for Free Download">
            <a:extLst>
              <a:ext uri="{FF2B5EF4-FFF2-40B4-BE49-F238E27FC236}">
                <a16:creationId xmlns:a16="http://schemas.microsoft.com/office/drawing/2014/main" id="{B083BA9C-9934-3ED9-B3EA-765234634E3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564" b="-933"/>
          <a:stretch>
            <a:fillRect/>
          </a:stretch>
        </p:blipFill>
        <p:spPr>
          <a:xfrm>
            <a:off x="2173111" y="4157133"/>
            <a:ext cx="1704912" cy="1800291"/>
          </a:xfrm>
          <a:prstGeom prst="rect">
            <a:avLst/>
          </a:prstGeom>
        </p:spPr>
      </p:pic>
      <p:pic>
        <p:nvPicPr>
          <p:cNvPr id="8" name="Picture 7" descr="Candy vector illustration icon colorful | Premium Vector">
            <a:extLst>
              <a:ext uri="{FF2B5EF4-FFF2-40B4-BE49-F238E27FC236}">
                <a16:creationId xmlns:a16="http://schemas.microsoft.com/office/drawing/2014/main" id="{CC719ABE-E902-7665-1F61-13D8267DD5D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3496"/>
          <a:stretch>
            <a:fillRect/>
          </a:stretch>
        </p:blipFill>
        <p:spPr>
          <a:xfrm>
            <a:off x="6417734" y="4270021"/>
            <a:ext cx="1614312" cy="1557868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520B6E8B-DD80-0EBE-AEED-25A8C4065D10}"/>
              </a:ext>
            </a:extLst>
          </p:cNvPr>
          <p:cNvSpPr/>
          <p:nvPr/>
        </p:nvSpPr>
        <p:spPr>
          <a:xfrm>
            <a:off x="4188177" y="4876799"/>
            <a:ext cx="2235199" cy="3725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590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3ADB1-9275-74DF-171F-249BEFDB4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Don't Trust the Agent. Trust the Infrastructure.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BF818086-BF84-7EF6-11B8-5959EEA493CD}"/>
              </a:ext>
            </a:extLst>
          </p:cNvPr>
          <p:cNvSpPr/>
          <p:nvPr/>
        </p:nvSpPr>
        <p:spPr>
          <a:xfrm>
            <a:off x="762000" y="1890507"/>
            <a:ext cx="10668000" cy="7620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zh-HK" altLang="en-US" sz="240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8C3FA4B2-7848-5853-B5B1-EACA60E9A777}"/>
              </a:ext>
            </a:extLst>
          </p:cNvPr>
          <p:cNvSpPr/>
          <p:nvPr/>
        </p:nvSpPr>
        <p:spPr>
          <a:xfrm>
            <a:off x="762000" y="1890507"/>
            <a:ext cx="76200" cy="7620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zh-HK" altLang="en-US" sz="240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6D7E0FAE-506E-0ACB-5B7C-17D4EA94D5F9}"/>
              </a:ext>
            </a:extLst>
          </p:cNvPr>
          <p:cNvSpPr/>
          <p:nvPr/>
        </p:nvSpPr>
        <p:spPr>
          <a:xfrm>
            <a:off x="762000" y="1890507"/>
            <a:ext cx="762000" cy="7620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zh-HK" altLang="en-US" sz="240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D4DE1C1-FEE0-10C1-8551-4E8C37F86F4C}"/>
              </a:ext>
            </a:extLst>
          </p:cNvPr>
          <p:cNvSpPr/>
          <p:nvPr/>
        </p:nvSpPr>
        <p:spPr>
          <a:xfrm>
            <a:off x="762000" y="2094535"/>
            <a:ext cx="762000" cy="3539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ts val="2933"/>
              </a:lnSpc>
            </a:pPr>
            <a:r>
              <a:rPr lang="en-US" sz="2136" b="1">
                <a:solidFill>
                  <a:srgbClr val="FAFAF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  <a:endParaRPr lang="en-US" sz="2136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F47BC7E-39C9-3D3B-5842-539B69BCD2A6}"/>
              </a:ext>
            </a:extLst>
          </p:cNvPr>
          <p:cNvSpPr/>
          <p:nvPr/>
        </p:nvSpPr>
        <p:spPr>
          <a:xfrm>
            <a:off x="1524000" y="2135292"/>
            <a:ext cx="2207058" cy="248594"/>
          </a:xfrm>
          <a:prstGeom prst="rect">
            <a:avLst/>
          </a:prstGeom>
          <a:noFill/>
          <a:ln/>
        </p:spPr>
        <p:txBody>
          <a:bodyPr wrap="none" lIns="272119" tIns="0" rIns="272119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453" b="1">
                <a:solidFill>
                  <a:srgbClr val="11182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Shift Left to Layer 0</a:t>
            </a:r>
            <a:endParaRPr lang="en-US" sz="1453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B4004C8-EB21-4F5A-F145-B5C485C2647B}"/>
              </a:ext>
            </a:extLst>
          </p:cNvPr>
          <p:cNvSpPr/>
          <p:nvPr/>
        </p:nvSpPr>
        <p:spPr>
          <a:xfrm>
            <a:off x="4381500" y="2156017"/>
            <a:ext cx="2479568" cy="224933"/>
          </a:xfrm>
          <a:prstGeom prst="rect">
            <a:avLst/>
          </a:prstGeom>
          <a:noFill/>
          <a:ln/>
        </p:spPr>
        <p:txBody>
          <a:bodyPr wrap="none" lIns="272119" tIns="0" rIns="272119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316" b="1">
                <a:solidFill>
                  <a:srgbClr val="37415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Kernel-level enforcement</a:t>
            </a:r>
            <a:endParaRPr lang="en-US" sz="1316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6943B5A9-C23A-BB5D-81F6-5974B9940611}"/>
              </a:ext>
            </a:extLst>
          </p:cNvPr>
          <p:cNvSpPr/>
          <p:nvPr/>
        </p:nvSpPr>
        <p:spPr>
          <a:xfrm>
            <a:off x="8468695" y="2156017"/>
            <a:ext cx="2437890" cy="224933"/>
          </a:xfrm>
          <a:prstGeom prst="rect">
            <a:avLst/>
          </a:prstGeom>
          <a:noFill/>
          <a:ln/>
        </p:spPr>
        <p:txBody>
          <a:bodyPr wrap="none" lIns="272119" tIns="0" rIns="272119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316" b="1">
                <a:solidFill>
                  <a:srgbClr val="2563E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BPF-LSM via KubeArmor</a:t>
            </a:r>
            <a:endParaRPr lang="en-US" sz="1316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9A03B9C3-D598-B60F-163C-3A973B136E75}"/>
              </a:ext>
            </a:extLst>
          </p:cNvPr>
          <p:cNvSpPr/>
          <p:nvPr/>
        </p:nvSpPr>
        <p:spPr>
          <a:xfrm>
            <a:off x="762000" y="2804907"/>
            <a:ext cx="10668000" cy="7620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zh-HK" altLang="en-US" sz="240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C5A6B8FC-FC16-EBD2-BFC8-B6336EC7BDE8}"/>
              </a:ext>
            </a:extLst>
          </p:cNvPr>
          <p:cNvSpPr/>
          <p:nvPr/>
        </p:nvSpPr>
        <p:spPr>
          <a:xfrm>
            <a:off x="762000" y="2804907"/>
            <a:ext cx="76200" cy="7620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zh-HK" altLang="en-US" sz="240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8CF5EF38-6690-86F8-FB21-2A47FD8A2318}"/>
              </a:ext>
            </a:extLst>
          </p:cNvPr>
          <p:cNvSpPr/>
          <p:nvPr/>
        </p:nvSpPr>
        <p:spPr>
          <a:xfrm>
            <a:off x="762000" y="2804907"/>
            <a:ext cx="762000" cy="7620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zh-HK" altLang="en-US" sz="240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FD8E2E41-C7FC-6802-FE82-643C333D7C81}"/>
              </a:ext>
            </a:extLst>
          </p:cNvPr>
          <p:cNvSpPr/>
          <p:nvPr/>
        </p:nvSpPr>
        <p:spPr>
          <a:xfrm>
            <a:off x="762000" y="3008935"/>
            <a:ext cx="762000" cy="3539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ts val="2933"/>
              </a:lnSpc>
            </a:pPr>
            <a:r>
              <a:rPr lang="en-US" sz="2136" b="1">
                <a:solidFill>
                  <a:srgbClr val="FAFAF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</a:t>
            </a:r>
            <a:endParaRPr lang="en-US" sz="2136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BF8CADBD-4871-6D7B-7ADB-3206F3B1F0EA}"/>
              </a:ext>
            </a:extLst>
          </p:cNvPr>
          <p:cNvSpPr/>
          <p:nvPr/>
        </p:nvSpPr>
        <p:spPr>
          <a:xfrm>
            <a:off x="1524000" y="3049692"/>
            <a:ext cx="2240721" cy="248594"/>
          </a:xfrm>
          <a:prstGeom prst="rect">
            <a:avLst/>
          </a:prstGeom>
          <a:noFill/>
          <a:ln/>
        </p:spPr>
        <p:txBody>
          <a:bodyPr wrap="none" lIns="272119" tIns="0" rIns="272119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453" b="1">
                <a:solidFill>
                  <a:srgbClr val="11182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Zero Trust Compute</a:t>
            </a:r>
            <a:endParaRPr lang="en-US" sz="1453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A3A89459-6E6F-DF29-BA7B-A91AB80EC956}"/>
              </a:ext>
            </a:extLst>
          </p:cNvPr>
          <p:cNvSpPr/>
          <p:nvPr/>
        </p:nvSpPr>
        <p:spPr>
          <a:xfrm>
            <a:off x="4381500" y="3070417"/>
            <a:ext cx="2747270" cy="224933"/>
          </a:xfrm>
          <a:prstGeom prst="rect">
            <a:avLst/>
          </a:prstGeom>
          <a:noFill/>
          <a:ln/>
        </p:spPr>
        <p:txBody>
          <a:bodyPr wrap="none" lIns="272119" tIns="0" rIns="272119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316" b="1">
                <a:solidFill>
                  <a:srgbClr val="37415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Capability-based sandboxing</a:t>
            </a:r>
            <a:endParaRPr lang="en-US" sz="1316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54DF325C-CFB2-0BD5-2031-D6C6F3AC7A95}"/>
              </a:ext>
            </a:extLst>
          </p:cNvPr>
          <p:cNvSpPr/>
          <p:nvPr/>
        </p:nvSpPr>
        <p:spPr>
          <a:xfrm>
            <a:off x="8382000" y="2951783"/>
            <a:ext cx="2607828" cy="468077"/>
          </a:xfrm>
          <a:prstGeom prst="rect">
            <a:avLst/>
          </a:prstGeom>
          <a:noFill/>
          <a:ln/>
        </p:spPr>
        <p:txBody>
          <a:bodyPr wrap="square" lIns="272119" tIns="0" rIns="272119" bIns="0" rtlCol="0" anchor="t">
            <a:spAutoFit/>
          </a:bodyPr>
          <a:lstStyle/>
          <a:p>
            <a:pPr algn="ctr">
              <a:lnSpc>
                <a:spcPts val="1867"/>
              </a:lnSpc>
            </a:pPr>
            <a:r>
              <a:rPr lang="en-US" sz="1300" b="1" err="1">
                <a:solidFill>
                  <a:srgbClr val="2563EB"/>
                </a:solidFill>
                <a:latin typeface="Roboto"/>
                <a:ea typeface="Roboto"/>
                <a:cs typeface="Roboto"/>
              </a:rPr>
              <a:t>WebAssembly</a:t>
            </a:r>
            <a:r>
              <a:rPr lang="en-US" sz="1300" b="1">
                <a:solidFill>
                  <a:srgbClr val="2563EB"/>
                </a:solidFill>
                <a:latin typeface="Roboto"/>
                <a:ea typeface="Roboto"/>
                <a:cs typeface="Roboto"/>
              </a:rPr>
              <a:t> (WASM) / </a:t>
            </a:r>
            <a:endParaRPr lang="en-US"/>
          </a:p>
          <a:p>
            <a:pPr algn="ctr">
              <a:lnSpc>
                <a:spcPts val="1867"/>
              </a:lnSpc>
            </a:pPr>
            <a:r>
              <a:rPr lang="en-US" sz="1300" b="1">
                <a:solidFill>
                  <a:srgbClr val="2563EB"/>
                </a:solidFill>
                <a:latin typeface="Roboto"/>
                <a:ea typeface="Roboto"/>
                <a:cs typeface="Roboto"/>
              </a:rPr>
              <a:t>Custom Sandboxing</a:t>
            </a:r>
            <a:endParaRPr lang="en-US" sz="1300" b="1">
              <a:solidFill>
                <a:srgbClr val="2563E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03DFA14D-C0E0-84C1-21D7-9DFF60634A16}"/>
              </a:ext>
            </a:extLst>
          </p:cNvPr>
          <p:cNvSpPr/>
          <p:nvPr/>
        </p:nvSpPr>
        <p:spPr>
          <a:xfrm>
            <a:off x="762000" y="3719307"/>
            <a:ext cx="10668000" cy="7620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zh-HK" altLang="en-US" sz="240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3C94EDBB-FC9D-3777-978B-B9880D9FBD56}"/>
              </a:ext>
            </a:extLst>
          </p:cNvPr>
          <p:cNvSpPr/>
          <p:nvPr/>
        </p:nvSpPr>
        <p:spPr>
          <a:xfrm>
            <a:off x="762000" y="3719307"/>
            <a:ext cx="76200" cy="7620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zh-HK" altLang="en-US" sz="240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F190F215-AB7C-33A9-AE65-D8F1BD700278}"/>
              </a:ext>
            </a:extLst>
          </p:cNvPr>
          <p:cNvSpPr/>
          <p:nvPr/>
        </p:nvSpPr>
        <p:spPr>
          <a:xfrm>
            <a:off x="762000" y="3719307"/>
            <a:ext cx="762000" cy="7620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zh-HK" altLang="en-US" sz="240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52A7C80E-0F12-79FA-3BCB-5E4BA7AC96DD}"/>
              </a:ext>
            </a:extLst>
          </p:cNvPr>
          <p:cNvSpPr/>
          <p:nvPr/>
        </p:nvSpPr>
        <p:spPr>
          <a:xfrm>
            <a:off x="762000" y="3923335"/>
            <a:ext cx="762000" cy="3539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ts val="2933"/>
              </a:lnSpc>
            </a:pPr>
            <a:r>
              <a:rPr lang="en-US" sz="2136" b="1">
                <a:solidFill>
                  <a:srgbClr val="FAFAF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</a:t>
            </a:r>
            <a:endParaRPr lang="en-US" sz="2136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E8F375F6-A79B-40D8-1368-FD3AC105D772}"/>
              </a:ext>
            </a:extLst>
          </p:cNvPr>
          <p:cNvSpPr/>
          <p:nvPr/>
        </p:nvSpPr>
        <p:spPr>
          <a:xfrm>
            <a:off x="1524000" y="3995902"/>
            <a:ext cx="2857500" cy="253018"/>
          </a:xfrm>
          <a:prstGeom prst="rect">
            <a:avLst/>
          </a:prstGeom>
          <a:noFill/>
          <a:ln/>
        </p:spPr>
        <p:txBody>
          <a:bodyPr wrap="square" lIns="272119" tIns="0" rIns="272119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453" b="1">
                <a:solidFill>
                  <a:srgbClr val="11182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Inherence over Possession</a:t>
            </a:r>
            <a:endParaRPr lang="en-US" sz="1453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BD64971E-4512-D893-8B31-0A70F24A0C47}"/>
              </a:ext>
            </a:extLst>
          </p:cNvPr>
          <p:cNvSpPr/>
          <p:nvPr/>
        </p:nvSpPr>
        <p:spPr>
          <a:xfrm>
            <a:off x="4381500" y="3984817"/>
            <a:ext cx="2973293" cy="224933"/>
          </a:xfrm>
          <a:prstGeom prst="rect">
            <a:avLst/>
          </a:prstGeom>
          <a:noFill/>
          <a:ln/>
        </p:spPr>
        <p:txBody>
          <a:bodyPr wrap="none" lIns="272119" tIns="0" rIns="272119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316" b="1">
                <a:solidFill>
                  <a:srgbClr val="37415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Cryptographic workload identity</a:t>
            </a:r>
            <a:endParaRPr lang="en-US" sz="1316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49016B47-AEC4-9318-A961-0E1105F7E0DD}"/>
              </a:ext>
            </a:extLst>
          </p:cNvPr>
          <p:cNvSpPr/>
          <p:nvPr/>
        </p:nvSpPr>
        <p:spPr>
          <a:xfrm>
            <a:off x="8290743" y="3984817"/>
            <a:ext cx="2620633" cy="224933"/>
          </a:xfrm>
          <a:prstGeom prst="rect">
            <a:avLst/>
          </a:prstGeom>
          <a:noFill/>
          <a:ln/>
        </p:spPr>
        <p:txBody>
          <a:bodyPr wrap="none" lIns="272119" tIns="0" rIns="272119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316" b="1">
                <a:solidFill>
                  <a:srgbClr val="2563E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Istio Ambient Mesh / mTLS</a:t>
            </a:r>
            <a:endParaRPr lang="en-US" sz="1316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B9E46BEB-D542-642D-3AA9-999F99D015BA}"/>
              </a:ext>
            </a:extLst>
          </p:cNvPr>
          <p:cNvSpPr/>
          <p:nvPr/>
        </p:nvSpPr>
        <p:spPr>
          <a:xfrm>
            <a:off x="762000" y="4633707"/>
            <a:ext cx="10668000" cy="7620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zh-HK" altLang="en-US" sz="240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7FC66CE2-7CC4-3FD7-7BD8-CD13965D73E5}"/>
              </a:ext>
            </a:extLst>
          </p:cNvPr>
          <p:cNvSpPr/>
          <p:nvPr/>
        </p:nvSpPr>
        <p:spPr>
          <a:xfrm>
            <a:off x="762000" y="4633707"/>
            <a:ext cx="76200" cy="7620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zh-HK" altLang="en-US" sz="240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E0E0E29C-8698-2054-638C-B3628B1D574B}"/>
              </a:ext>
            </a:extLst>
          </p:cNvPr>
          <p:cNvSpPr/>
          <p:nvPr/>
        </p:nvSpPr>
        <p:spPr>
          <a:xfrm>
            <a:off x="762000" y="4633707"/>
            <a:ext cx="762000" cy="7620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zh-HK" altLang="en-US" sz="240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88CFCDC5-F086-E4B9-0152-E73933D0709C}"/>
              </a:ext>
            </a:extLst>
          </p:cNvPr>
          <p:cNvSpPr/>
          <p:nvPr/>
        </p:nvSpPr>
        <p:spPr>
          <a:xfrm>
            <a:off x="762000" y="4837735"/>
            <a:ext cx="762000" cy="3539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ts val="2933"/>
              </a:lnSpc>
            </a:pPr>
            <a:r>
              <a:rPr lang="en-US" sz="2136" b="1">
                <a:solidFill>
                  <a:srgbClr val="FAFAF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</a:t>
            </a:r>
            <a:endParaRPr lang="en-US" sz="2136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06788B0E-68AE-27CC-6AA4-9EE5B638C836}"/>
              </a:ext>
            </a:extLst>
          </p:cNvPr>
          <p:cNvSpPr/>
          <p:nvPr/>
        </p:nvSpPr>
        <p:spPr>
          <a:xfrm>
            <a:off x="1524000" y="4878492"/>
            <a:ext cx="2421668" cy="253467"/>
          </a:xfrm>
          <a:prstGeom prst="rect">
            <a:avLst/>
          </a:prstGeom>
          <a:noFill/>
          <a:ln/>
        </p:spPr>
        <p:txBody>
          <a:bodyPr wrap="none" lIns="272119" tIns="0" rIns="272119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450" b="1">
                <a:solidFill>
                  <a:srgbClr val="111827"/>
                </a:solidFill>
                <a:latin typeface="Roboto"/>
                <a:ea typeface="Roboto"/>
                <a:cs typeface="Roboto"/>
              </a:rPr>
              <a:t>Exfiltration Prevention</a:t>
            </a:r>
            <a:endParaRPr lang="en-US" b="1">
              <a:latin typeface="Roboto"/>
              <a:ea typeface="Roboto"/>
              <a:cs typeface="Roboto"/>
            </a:endParaRPr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F935E548-D974-A937-CC51-B248F90DC322}"/>
              </a:ext>
            </a:extLst>
          </p:cNvPr>
          <p:cNvSpPr/>
          <p:nvPr/>
        </p:nvSpPr>
        <p:spPr>
          <a:xfrm>
            <a:off x="4381500" y="4899217"/>
            <a:ext cx="3266643" cy="224933"/>
          </a:xfrm>
          <a:prstGeom prst="rect">
            <a:avLst/>
          </a:prstGeom>
          <a:noFill/>
          <a:ln/>
        </p:spPr>
        <p:txBody>
          <a:bodyPr wrap="none" lIns="272119" tIns="0" rIns="272119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316" b="1">
                <a:solidFill>
                  <a:srgbClr val="37415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Network-level Data Loss Prevention</a:t>
            </a:r>
            <a:endParaRPr lang="en-US" sz="1316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2CCFB7DA-8F17-697E-80D4-7F8A3EA4B1C4}"/>
              </a:ext>
            </a:extLst>
          </p:cNvPr>
          <p:cNvSpPr/>
          <p:nvPr/>
        </p:nvSpPr>
        <p:spPr>
          <a:xfrm>
            <a:off x="8528013" y="4899217"/>
            <a:ext cx="2146144" cy="224933"/>
          </a:xfrm>
          <a:prstGeom prst="rect">
            <a:avLst/>
          </a:prstGeom>
          <a:noFill/>
          <a:ln/>
        </p:spPr>
        <p:txBody>
          <a:bodyPr wrap="none" lIns="272119" tIns="0" rIns="272119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316" b="1">
                <a:solidFill>
                  <a:srgbClr val="2563E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Layer 7 Egress Proxy</a:t>
            </a:r>
            <a:endParaRPr lang="en-US" sz="1316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B8802AA6-619C-3D9B-B80A-E1483F5436D2}"/>
              </a:ext>
            </a:extLst>
          </p:cNvPr>
          <p:cNvSpPr/>
          <p:nvPr/>
        </p:nvSpPr>
        <p:spPr>
          <a:xfrm>
            <a:off x="838200" y="5706857"/>
            <a:ext cx="10591800" cy="7620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zh-HK" altLang="en-US" sz="240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B910879D-ACEE-09ED-8173-C921EC971E38}"/>
              </a:ext>
            </a:extLst>
          </p:cNvPr>
          <p:cNvSpPr/>
          <p:nvPr/>
        </p:nvSpPr>
        <p:spPr>
          <a:xfrm>
            <a:off x="762000" y="5706858"/>
            <a:ext cx="76200" cy="761999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zh-HK" altLang="en-US" sz="240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8FFC7160-B61D-7992-EA79-B736C017D183}"/>
              </a:ext>
            </a:extLst>
          </p:cNvPr>
          <p:cNvSpPr/>
          <p:nvPr/>
        </p:nvSpPr>
        <p:spPr>
          <a:xfrm>
            <a:off x="1066800" y="5879274"/>
            <a:ext cx="10217150" cy="287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33"/>
              </a:lnSpc>
            </a:pPr>
            <a:r>
              <a:rPr lang="en-US" sz="1453" b="1">
                <a:solidFill>
                  <a:srgbClr val="FAFAF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These principles are </a:t>
            </a:r>
            <a:r>
              <a:rPr lang="en-US" sz="1453" b="1">
                <a:solidFill>
                  <a:srgbClr val="DC262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technology-agnostic</a:t>
            </a:r>
            <a:r>
              <a:rPr lang="en-US" sz="1453" b="1">
                <a:solidFill>
                  <a:srgbClr val="FAFAF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</a:t>
            </a:r>
            <a:r>
              <a:rPr lang="en-US" sz="1453" b="1">
                <a:solidFill>
                  <a:srgbClr val="DC262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durable</a:t>
            </a:r>
            <a:r>
              <a:rPr lang="en-US" sz="1453" b="1">
                <a:solidFill>
                  <a:srgbClr val="FAFAF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— they apply regardless of which LLM framework or model you use.</a:t>
            </a:r>
            <a:endParaRPr lang="en-US" sz="1453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2902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635B0-8D93-0373-E031-1BFBAD18F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Roadmap</a:t>
            </a:r>
            <a:endParaRPr lang="zh-HK" altLang="en-US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graphicFrame>
        <p:nvGraphicFramePr>
          <p:cNvPr id="74" name="Table 73">
            <a:extLst>
              <a:ext uri="{FF2B5EF4-FFF2-40B4-BE49-F238E27FC236}">
                <a16:creationId xmlns:a16="http://schemas.microsoft.com/office/drawing/2014/main" id="{5A6D96E8-B43D-7C91-1FE0-3F9147DA29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945467"/>
              </p:ext>
            </p:extLst>
          </p:nvPr>
        </p:nvGraphicFramePr>
        <p:xfrm>
          <a:off x="2032000" y="2337231"/>
          <a:ext cx="8128000" cy="27871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0300">
                  <a:extLst>
                    <a:ext uri="{9D8B030D-6E8A-4147-A177-3AD203B41FA5}">
                      <a16:colId xmlns:a16="http://schemas.microsoft.com/office/drawing/2014/main" val="2809029835"/>
                    </a:ext>
                  </a:extLst>
                </a:gridCol>
                <a:gridCol w="7237700">
                  <a:extLst>
                    <a:ext uri="{9D8B030D-6E8A-4147-A177-3AD203B41FA5}">
                      <a16:colId xmlns:a16="http://schemas.microsoft.com/office/drawing/2014/main" val="1348020273"/>
                    </a:ext>
                  </a:extLst>
                </a:gridCol>
              </a:tblGrid>
              <a:tr h="696799">
                <a:tc>
                  <a:txBody>
                    <a:bodyPr/>
                    <a:lstStyle/>
                    <a:p>
                      <a:r>
                        <a:rPr lang="en-US" altLang="zh-HK">
                          <a:solidFill>
                            <a:sysClr val="windowText" lastClr="0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</a:t>
                      </a:r>
                      <a:endParaRPr lang="zh-HK" altLang="en-US">
                        <a:solidFill>
                          <a:sysClr val="windowText" lastClr="000000"/>
                        </a:solidFill>
                        <a:latin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HK" b="1">
                          <a:solidFill>
                            <a:srgbClr val="0070C0"/>
                          </a:solidFill>
                          <a:latin typeface="Roboto"/>
                          <a:ea typeface="Roboto"/>
                          <a:cs typeface="Roboto"/>
                        </a:rPr>
                        <a:t>notebooks/01_os_level_rescue.ipynb</a:t>
                      </a:r>
                    </a:p>
                    <a:p>
                      <a:r>
                        <a:rPr lang="en-US" altLang="zh-HK">
                          <a:latin typeface="Roboto"/>
                          <a:ea typeface="Roboto"/>
                          <a:cs typeface="Roboto"/>
                        </a:rPr>
                        <a:t>Observe the baseline attack and build the kernel level policy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4047362"/>
                  </a:ext>
                </a:extLst>
              </a:tr>
              <a:tr h="696799">
                <a:tc>
                  <a:txBody>
                    <a:bodyPr/>
                    <a:lstStyle/>
                    <a:p>
                      <a:r>
                        <a:rPr lang="en-US" altLang="zh-HK">
                          <a:solidFill>
                            <a:sysClr val="windowText" lastClr="0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</a:t>
                      </a:r>
                      <a:endParaRPr lang="zh-HK" altLang="en-US">
                        <a:solidFill>
                          <a:sysClr val="windowText" lastClr="000000"/>
                        </a:solidFill>
                        <a:latin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HK" b="1">
                          <a:solidFill>
                            <a:srgbClr val="0070C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notebooks/02_secure_compute.ipynb</a:t>
                      </a: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Run Rust (Blazingly Fast!) sandbox demo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56361"/>
                  </a:ext>
                </a:extLst>
              </a:tr>
              <a:tr h="696799">
                <a:tc>
                  <a:txBody>
                    <a:bodyPr/>
                    <a:lstStyle/>
                    <a:p>
                      <a:r>
                        <a:rPr lang="en-US" altLang="zh-HK" dirty="0">
                          <a:solidFill>
                            <a:sysClr val="windowText" lastClr="0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</a:t>
                      </a:r>
                      <a:endParaRPr lang="zh-HK" altLang="en-US" dirty="0">
                        <a:solidFill>
                          <a:sysClr val="windowText" lastClr="000000"/>
                        </a:solidFill>
                        <a:latin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HK" b="1" dirty="0">
                          <a:solidFill>
                            <a:srgbClr val="0070C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notebooks/03_mtls_auth.ipynb</a:t>
                      </a:r>
                    </a:p>
                    <a:p>
                      <a:r>
                        <a:rPr lang="en-US" altLang="zh-HK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Try keyless DB access with authorization policy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452042"/>
                  </a:ext>
                </a:extLst>
              </a:tr>
              <a:tr h="696799">
                <a:tc>
                  <a:txBody>
                    <a:bodyPr/>
                    <a:lstStyle/>
                    <a:p>
                      <a:r>
                        <a:rPr lang="en-US" altLang="zh-HK" dirty="0">
                          <a:solidFill>
                            <a:sysClr val="windowText" lastClr="0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4</a:t>
                      </a:r>
                      <a:endParaRPr lang="zh-HK" altLang="en-US" dirty="0">
                        <a:solidFill>
                          <a:sysClr val="windowText" lastClr="000000"/>
                        </a:solidFill>
                        <a:latin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HK" b="1" dirty="0">
                          <a:solidFill>
                            <a:srgbClr val="0070C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notebooks/04_network_dlp.ipynb</a:t>
                      </a:r>
                    </a:p>
                    <a:p>
                      <a:r>
                        <a:rPr lang="en-US" altLang="zh-HK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Prevent data leaks with Network Data Loss Prevention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025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9221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584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933066"/>
            <a:ext cx="10668000" cy="509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67"/>
              </a:lnSpc>
            </a:pPr>
            <a:r>
              <a:rPr lang="en-US" sz="3000" b="1" kern="0" spc="-1">
                <a:solidFill>
                  <a:srgbClr val="11182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Real Attack Hides in the Content, Not the User's Prompt</a:t>
            </a:r>
            <a:endParaRPr lang="en-US" sz="30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62001" y="2354536"/>
            <a:ext cx="6057900" cy="706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33"/>
              </a:lnSpc>
            </a:pPr>
            <a:r>
              <a:rPr lang="en-US" sz="1591" b="1">
                <a:solidFill>
                  <a:srgbClr val="37415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This workshop uses a highly realistic attack scenario — no cartoonish "ignore all instructions" prompts.</a:t>
            </a:r>
            <a:endParaRPr lang="en-US" sz="1591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62000" y="3200325"/>
            <a:ext cx="304800" cy="3048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zh-HK" altLang="en-US" sz="240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71119" y="3256865"/>
            <a:ext cx="86563" cy="1917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180" b="1">
                <a:solidFill>
                  <a:srgbClr val="FAFAF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  <a:endParaRPr lang="en-US" sz="118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257300" y="3162225"/>
            <a:ext cx="5562600" cy="562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67"/>
              </a:lnSpc>
            </a:pPr>
            <a:r>
              <a:rPr lang="en-US" sz="1316" b="1">
                <a:solidFill>
                  <a:srgbClr val="37415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User asks the agent a benign question: </a:t>
            </a:r>
            <a:r>
              <a:rPr lang="en-US" sz="1316" b="1" i="1">
                <a:solidFill>
                  <a:srgbClr val="37415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"Can you summarize the news on this website?"</a:t>
            </a:r>
            <a:endParaRPr lang="en-US" sz="1316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62000" y="3848025"/>
            <a:ext cx="304800" cy="3048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zh-HK" altLang="en-US" sz="240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69516" y="3903315"/>
            <a:ext cx="89768" cy="1942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180" b="1">
                <a:solidFill>
                  <a:srgbClr val="FAFAF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</a:t>
            </a:r>
            <a:endParaRPr lang="en-US" sz="118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257300" y="3809925"/>
            <a:ext cx="5562600" cy="558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67"/>
              </a:lnSpc>
            </a:pPr>
            <a:r>
              <a:rPr lang="en-US" sz="1316" b="1">
                <a:solidFill>
                  <a:srgbClr val="37415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agent legitimately fetches external content from </a:t>
            </a:r>
            <a:r>
              <a:rPr lang="en-US" sz="1316" b="1">
                <a:solidFill>
                  <a:srgbClr val="11182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api.agentcon.local/news</a:t>
            </a:r>
            <a:r>
              <a:rPr lang="en-US" sz="1316" b="1">
                <a:solidFill>
                  <a:srgbClr val="37415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en-US" sz="1316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62000" y="4495725"/>
            <a:ext cx="304800" cy="3048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zh-HK" altLang="en-US" sz="240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71119" y="4552265"/>
            <a:ext cx="86563" cy="1917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180" b="1">
                <a:solidFill>
                  <a:srgbClr val="FAFAF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</a:t>
            </a:r>
            <a:endParaRPr lang="en-US" sz="118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257300" y="4457625"/>
            <a:ext cx="5562600" cy="562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67"/>
              </a:lnSpc>
            </a:pPr>
            <a:r>
              <a:rPr lang="en-US" sz="1316" b="1">
                <a:solidFill>
                  <a:srgbClr val="37415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fetched page contains </a:t>
            </a:r>
            <a:r>
              <a:rPr lang="en-US" sz="1316" b="1">
                <a:solidFill>
                  <a:srgbClr val="11182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hidden malicious instructions</a:t>
            </a:r>
            <a:r>
              <a:rPr lang="en-US" sz="1316" b="1">
                <a:solidFill>
                  <a:srgbClr val="37415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(Indirect Prompt Injection).</a:t>
            </a:r>
            <a:endParaRPr lang="en-US" sz="1316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62000" y="5143425"/>
            <a:ext cx="304800" cy="3048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zh-HK" altLang="en-US" sz="240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71119" y="5199965"/>
            <a:ext cx="86563" cy="1917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180" b="1">
                <a:solidFill>
                  <a:srgbClr val="FAFAF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</a:t>
            </a:r>
            <a:endParaRPr lang="en-US" sz="118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257300" y="5131521"/>
            <a:ext cx="4297651" cy="2634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267"/>
              </a:lnSpc>
            </a:pPr>
            <a:r>
              <a:rPr lang="en-US" sz="1316" b="1">
                <a:solidFill>
                  <a:srgbClr val="37415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injected instructions command the agent to read the</a:t>
            </a:r>
            <a:endParaRPr lang="en-US" sz="1316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257301" y="5417270"/>
            <a:ext cx="3868047" cy="2634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267"/>
              </a:lnSpc>
            </a:pPr>
            <a:r>
              <a:rPr lang="en-US" sz="1316" b="1">
                <a:solidFill>
                  <a:srgbClr val="37415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Kubernetes Service Account token and exfiltrate it.</a:t>
            </a:r>
            <a:endParaRPr lang="en-US" sz="1316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1314450" y="5781638"/>
            <a:ext cx="3174999" cy="167619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zh-HK" altLang="en-US" sz="240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257301" y="5632375"/>
            <a:ext cx="4309132" cy="316882"/>
          </a:xfrm>
          <a:prstGeom prst="rect">
            <a:avLst/>
          </a:prstGeom>
          <a:noFill/>
          <a:ln/>
        </p:spPr>
        <p:txBody>
          <a:bodyPr wrap="square" lIns="136144" tIns="136144" rIns="136144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000" b="1">
                <a:solidFill>
                  <a:srgbClr val="FAFAF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/var/run/secrets/kubernetes.io/serviceaccount/token</a:t>
            </a:r>
            <a:endParaRPr lang="en-US" sz="10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762000" y="6136543"/>
            <a:ext cx="304800" cy="3048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zh-HK" altLang="en-US" sz="240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871119" y="6193083"/>
            <a:ext cx="86563" cy="1917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180" b="1">
                <a:solidFill>
                  <a:srgbClr val="FAFAF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5</a:t>
            </a:r>
            <a:endParaRPr lang="en-US" sz="118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257300" y="6098443"/>
            <a:ext cx="5562600" cy="562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67"/>
              </a:lnSpc>
            </a:pPr>
            <a:r>
              <a:rPr lang="en-US" sz="1316" b="1">
                <a:solidFill>
                  <a:srgbClr val="37415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agent complies, generates malicious Python code, and executes it via </a:t>
            </a:r>
            <a:r>
              <a:rPr lang="en-US" sz="1316" b="1">
                <a:solidFill>
                  <a:srgbClr val="11182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exec()</a:t>
            </a:r>
            <a:r>
              <a:rPr lang="en-US" sz="1316" b="1">
                <a:solidFill>
                  <a:srgbClr val="37415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en-US" sz="1316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7391400" y="2506936"/>
            <a:ext cx="4038600" cy="1974056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zh-HK" altLang="en-US" sz="240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7391400" y="2506936"/>
            <a:ext cx="4038600" cy="762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zh-HK" altLang="en-US" sz="240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7620000" y="2735536"/>
            <a:ext cx="1530227" cy="1778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045" b="1" kern="0" spc="1">
                <a:solidFill>
                  <a:srgbClr val="DC262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CRITICAL OBSERVATION</a:t>
            </a:r>
            <a:endParaRPr lang="en-US" sz="1045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7620000" y="3033192"/>
            <a:ext cx="3702484" cy="100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67"/>
              </a:lnSpc>
            </a:pPr>
            <a:r>
              <a:rPr lang="en-US" sz="1591" b="1">
                <a:solidFill>
                  <a:srgbClr val="11182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 do not scan the prompt. We let the agent fail — and watch the infrastructure catch the fallout.</a:t>
            </a:r>
            <a:endParaRPr lang="en-US" sz="1591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571500"/>
            <a:ext cx="10668000" cy="527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67"/>
              </a:lnSpc>
            </a:pPr>
            <a:r>
              <a:rPr lang="en-US" sz="3248" b="1" kern="0" spc="-1">
                <a:solidFill>
                  <a:srgbClr val="11182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BPF-LSM Intercepts Syscalls Before Python Ever Runs</a:t>
            </a:r>
            <a:endParaRPr lang="en-US" sz="3248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62001" y="2354537"/>
            <a:ext cx="3924300" cy="2164556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zh-HK" altLang="en-US" sz="240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066800" y="2659336"/>
            <a:ext cx="897490" cy="1778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045" b="1" kern="0" spc="1">
                <a:solidFill>
                  <a:srgbClr val="DC262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CONCEPT</a:t>
            </a:r>
            <a:endParaRPr lang="en-US" sz="1045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66801" y="2995092"/>
            <a:ext cx="3314700" cy="1199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1316" b="1" dirty="0">
                <a:solidFill>
                  <a:srgbClr val="FAFAF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 cannot write regex to sanitize the entire internet. AI prompt scanning will always fail. The only reliable enforcement point is the Linux Kernel itself.</a:t>
            </a:r>
            <a:endParaRPr lang="en-US" sz="1316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62001" y="4747693"/>
            <a:ext cx="3924300" cy="1538808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zh-HK" altLang="en-US" sz="240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62000" y="4747693"/>
            <a:ext cx="82550" cy="15388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 sz="240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90600" y="4976292"/>
            <a:ext cx="894284" cy="1778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045" b="1" kern="0" spc="1">
                <a:solidFill>
                  <a:srgbClr val="2563E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DEMO RESULT</a:t>
            </a:r>
            <a:endParaRPr lang="en-US" sz="1045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90601" y="5273948"/>
            <a:ext cx="3467100" cy="485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150" b="1">
                <a:solidFill>
                  <a:srgbClr val="111827"/>
                </a:solidFill>
                <a:latin typeface="Roboto"/>
                <a:ea typeface="Roboto"/>
                <a:cs typeface="Roboto"/>
              </a:rPr>
              <a:t>The exfiltration attempt throws </a:t>
            </a:r>
            <a:r>
              <a:rPr lang="en-US" sz="1000" b="1" err="1">
                <a:solidFill>
                  <a:srgbClr val="DC2626"/>
                </a:solidFill>
                <a:latin typeface="Roboto"/>
                <a:ea typeface="Roboto"/>
                <a:cs typeface="Roboto"/>
              </a:rPr>
              <a:t>PermissionError</a:t>
            </a:r>
            <a:r>
              <a:rPr lang="en-US" sz="1150" b="1">
                <a:solidFill>
                  <a:srgbClr val="111827"/>
                </a:solidFill>
                <a:latin typeface="Roboto"/>
                <a:ea typeface="Roboto"/>
                <a:cs typeface="Roboto"/>
              </a:rPr>
              <a:t>. The kernel wins without Python's involvement.</a:t>
            </a:r>
            <a:endParaRPr lang="en-US" sz="1150">
              <a:latin typeface="Roboto"/>
              <a:ea typeface="Roboto"/>
              <a:cs typeface="Roboto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257800" y="2354537"/>
            <a:ext cx="3697166" cy="253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133"/>
              </a:lnSpc>
            </a:pPr>
            <a:r>
              <a:rPr lang="en-US" sz="1591" b="1" kern="0" spc="1">
                <a:solidFill>
                  <a:srgbClr val="11182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IMPLEMENTATION — KUBEARMOR</a:t>
            </a:r>
            <a:endParaRPr lang="en-US" sz="1591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600701" y="2859360"/>
            <a:ext cx="5829300" cy="267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67"/>
              </a:lnSpc>
            </a:pPr>
            <a:r>
              <a:rPr lang="en-US" sz="1316" b="1">
                <a:solidFill>
                  <a:srgbClr val="37415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Deploys a </a:t>
            </a:r>
            <a:r>
              <a:rPr lang="en-US" sz="1316" b="1">
                <a:solidFill>
                  <a:srgbClr val="11182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BPF-LSM (Linux Security Module)</a:t>
            </a:r>
            <a:r>
              <a:rPr lang="en-US" sz="1316" b="1">
                <a:solidFill>
                  <a:srgbClr val="37415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policy on the Kubernetes pod.</a:t>
            </a:r>
            <a:endParaRPr lang="en-US" sz="1316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600701" y="3659461"/>
            <a:ext cx="4456348" cy="2634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267"/>
              </a:lnSpc>
            </a:pPr>
            <a:r>
              <a:rPr lang="en-US" sz="1316" b="1" dirty="0">
                <a:solidFill>
                  <a:srgbClr val="37415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Intercepts raw system calls </a:t>
            </a:r>
            <a:r>
              <a:rPr lang="en-US" sz="1316" b="1" i="1" dirty="0">
                <a:solidFill>
                  <a:srgbClr val="37415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before</a:t>
            </a:r>
            <a:r>
              <a:rPr lang="en-US" sz="1316" b="1" dirty="0">
                <a:solidFill>
                  <a:srgbClr val="37415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the OS processes them.</a:t>
            </a:r>
            <a:endParaRPr lang="en-US" sz="1316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600701" y="4173811"/>
            <a:ext cx="5829300" cy="561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67"/>
              </a:lnSpc>
            </a:pPr>
            <a:r>
              <a:rPr lang="en-US" sz="1316" b="1">
                <a:solidFill>
                  <a:srgbClr val="37415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Policy targets the exact file path:
</a:t>
            </a:r>
            <a:r>
              <a:rPr lang="en-US" sz="1316" b="1">
                <a:solidFill>
                  <a:srgbClr val="2563E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/var/run/secrets/kubernetes.io/serviceaccount/token</a:t>
            </a:r>
            <a:endParaRPr lang="en-US" sz="1316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600701" y="4976292"/>
            <a:ext cx="5829300" cy="561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67"/>
              </a:lnSpc>
            </a:pPr>
            <a:r>
              <a:rPr lang="en-US" sz="1316" b="1">
                <a:solidFill>
                  <a:srgbClr val="37415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When the malicious code attempts to </a:t>
            </a:r>
            <a:r>
              <a:rPr lang="en-US" sz="1316" b="1">
                <a:solidFill>
                  <a:srgbClr val="2563E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open()</a:t>
            </a:r>
            <a:r>
              <a:rPr lang="en-US" sz="1316" b="1">
                <a:solidFill>
                  <a:srgbClr val="37415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the token file, the kernel </a:t>
            </a:r>
            <a:r>
              <a:rPr lang="en-US" sz="1316" b="1">
                <a:solidFill>
                  <a:srgbClr val="11182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blocks the syscall</a:t>
            </a:r>
            <a:r>
              <a:rPr lang="en-US" sz="1316" b="1">
                <a:solidFill>
                  <a:srgbClr val="37415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en-US" sz="1316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600701" y="5778773"/>
            <a:ext cx="5829300" cy="266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67"/>
              </a:lnSpc>
            </a:pPr>
            <a:r>
              <a:rPr lang="en-US" sz="1316" b="1">
                <a:solidFill>
                  <a:srgbClr val="37415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Python receives a clean </a:t>
            </a:r>
            <a:r>
              <a:rPr lang="en-US" sz="1316" b="1">
                <a:solidFill>
                  <a:srgbClr val="2563E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PermissionError</a:t>
            </a:r>
            <a:r>
              <a:rPr lang="en-US" sz="1316" b="1">
                <a:solidFill>
                  <a:srgbClr val="37415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— no token is ever read.</a:t>
            </a:r>
            <a:endParaRPr lang="en-US" sz="1316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DF6FC-2D7B-4E8B-D56A-975FCE454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1C2A4-5BF2-6FFA-BE4C-8BB2E7088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Roadmap</a:t>
            </a:r>
            <a:endParaRPr lang="zh-HK" altLang="en-US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graphicFrame>
        <p:nvGraphicFramePr>
          <p:cNvPr id="74" name="Table 73">
            <a:extLst>
              <a:ext uri="{FF2B5EF4-FFF2-40B4-BE49-F238E27FC236}">
                <a16:creationId xmlns:a16="http://schemas.microsoft.com/office/drawing/2014/main" id="{DB65655C-FB9C-7F39-786D-C5FB4B7639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200667"/>
              </p:ext>
            </p:extLst>
          </p:nvPr>
        </p:nvGraphicFramePr>
        <p:xfrm>
          <a:off x="2032000" y="2337231"/>
          <a:ext cx="8128000" cy="27871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0300">
                  <a:extLst>
                    <a:ext uri="{9D8B030D-6E8A-4147-A177-3AD203B41FA5}">
                      <a16:colId xmlns:a16="http://schemas.microsoft.com/office/drawing/2014/main" val="2809029835"/>
                    </a:ext>
                  </a:extLst>
                </a:gridCol>
                <a:gridCol w="7237700">
                  <a:extLst>
                    <a:ext uri="{9D8B030D-6E8A-4147-A177-3AD203B41FA5}">
                      <a16:colId xmlns:a16="http://schemas.microsoft.com/office/drawing/2014/main" val="1348020273"/>
                    </a:ext>
                  </a:extLst>
                </a:gridCol>
              </a:tblGrid>
              <a:tr h="696799">
                <a:tc>
                  <a:txBody>
                    <a:bodyPr/>
                    <a:lstStyle/>
                    <a:p>
                      <a:r>
                        <a:rPr lang="en-US" altLang="zh-HK">
                          <a:solidFill>
                            <a:sysClr val="windowText" lastClr="0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</a:t>
                      </a:r>
                      <a:endParaRPr lang="zh-HK" altLang="en-US">
                        <a:solidFill>
                          <a:sysClr val="windowText" lastClr="000000"/>
                        </a:solidFill>
                        <a:latin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HK" b="1">
                          <a:solidFill>
                            <a:srgbClr val="0070C0"/>
                          </a:solidFill>
                          <a:latin typeface="Roboto"/>
                          <a:ea typeface="Roboto"/>
                          <a:cs typeface="Roboto"/>
                        </a:rPr>
                        <a:t>notebooks/01_os_level_rescue.ipynb</a:t>
                      </a:r>
                    </a:p>
                    <a:p>
                      <a:r>
                        <a:rPr lang="en-US" altLang="zh-HK">
                          <a:latin typeface="Roboto"/>
                          <a:ea typeface="Roboto"/>
                          <a:cs typeface="Roboto"/>
                        </a:rPr>
                        <a:t>Observe the baseline attack and build the kernel level policy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4047362"/>
                  </a:ext>
                </a:extLst>
              </a:tr>
              <a:tr h="696799">
                <a:tc>
                  <a:txBody>
                    <a:bodyPr/>
                    <a:lstStyle/>
                    <a:p>
                      <a:r>
                        <a:rPr lang="en-US" altLang="zh-HK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</a:t>
                      </a:r>
                      <a:endParaRPr lang="zh-HK" altLang="en-US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HK" b="1" dirty="0">
                          <a:solidFill>
                            <a:schemeClr val="tx1">
                              <a:lumMod val="49000"/>
                              <a:lumOff val="51000"/>
                            </a:schemeClr>
                          </a:solidFill>
                          <a:latin typeface="Roboto"/>
                          <a:ea typeface="Roboto"/>
                          <a:cs typeface="Roboto"/>
                        </a:rPr>
                        <a:t>notebooks/02_secure_compute.ipynb</a:t>
                      </a: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tx1">
                              <a:lumMod val="49000"/>
                              <a:lumOff val="51000"/>
                            </a:schemeClr>
                          </a:solidFill>
                          <a:latin typeface="Roboto"/>
                          <a:ea typeface="Roboto"/>
                          <a:cs typeface="Roboto"/>
                        </a:rPr>
                        <a:t>Run Rust (Blazingly Fast!) sandbox demo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56361"/>
                  </a:ext>
                </a:extLst>
              </a:tr>
              <a:tr h="696799">
                <a:tc>
                  <a:txBody>
                    <a:bodyPr/>
                    <a:lstStyle/>
                    <a:p>
                      <a:r>
                        <a:rPr lang="en-US" altLang="zh-HK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</a:t>
                      </a:r>
                      <a:endParaRPr lang="zh-HK" altLang="en-US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HK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notebooks/03_mtls_auth.ipynb</a:t>
                      </a:r>
                    </a:p>
                    <a:p>
                      <a:r>
                        <a:rPr lang="en-US" altLang="zh-HK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Try keyless DB access with authorization policy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452042"/>
                  </a:ext>
                </a:extLst>
              </a:tr>
              <a:tr h="696799">
                <a:tc>
                  <a:txBody>
                    <a:bodyPr/>
                    <a:lstStyle/>
                    <a:p>
                      <a:r>
                        <a:rPr lang="en-US" altLang="zh-HK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4</a:t>
                      </a:r>
                      <a:endParaRPr lang="zh-HK" altLang="en-US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HK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notebooks/04_network_dlp.ipynb</a:t>
                      </a:r>
                    </a:p>
                    <a:p>
                      <a:r>
                        <a:rPr lang="en-US" altLang="zh-HK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Prevent data leaks with Network Data Loss Prevention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025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882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620B2-EE87-83CF-5A9B-816782A59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sz="3200">
                <a:latin typeface="Roboto"/>
                <a:ea typeface="Roboto"/>
                <a:cs typeface="Roboto"/>
              </a:rPr>
              <a:t>Sandboxing: Default-deny Privileges</a:t>
            </a:r>
            <a:endParaRPr lang="zh-HK" altLang="en-US" sz="3200">
              <a:latin typeface="Roboto"/>
              <a:cs typeface="Roboto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9E158-ED96-EB42-2C59-780DE0E43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HK" sz="2400" dirty="0">
                <a:latin typeface="Roboto"/>
                <a:ea typeface="Roboto"/>
                <a:cs typeface="Roboto"/>
              </a:rPr>
              <a:t>Treat every piece of LLM-generated code as a hostile adversary. It must operate under default-deny capability rules.</a:t>
            </a:r>
          </a:p>
          <a:p>
            <a:pPr>
              <a:lnSpc>
                <a:spcPct val="150000"/>
              </a:lnSpc>
            </a:pPr>
            <a:r>
              <a:rPr lang="en-US" altLang="zh-HK" sz="2400" dirty="0">
                <a:latin typeface="Roboto"/>
                <a:ea typeface="Roboto"/>
                <a:cs typeface="Roboto"/>
              </a:rPr>
              <a:t>By default, WASM has </a:t>
            </a:r>
            <a:r>
              <a:rPr lang="en-US" altLang="zh-HK" sz="2400" b="1" dirty="0">
                <a:latin typeface="Roboto"/>
                <a:ea typeface="Roboto"/>
                <a:cs typeface="Roboto"/>
              </a:rPr>
              <a:t>zero access</a:t>
            </a:r>
            <a:r>
              <a:rPr lang="en-US" altLang="zh-HK" sz="2400" dirty="0">
                <a:latin typeface="Roboto"/>
                <a:ea typeface="Roboto"/>
                <a:cs typeface="Roboto"/>
              </a:rPr>
              <a:t> to the filesystem, network, or OS.</a:t>
            </a:r>
          </a:p>
        </p:txBody>
      </p:sp>
      <p:sp>
        <p:nvSpPr>
          <p:cNvPr id="4" name="Shape 9">
            <a:extLst>
              <a:ext uri="{FF2B5EF4-FFF2-40B4-BE49-F238E27FC236}">
                <a16:creationId xmlns:a16="http://schemas.microsoft.com/office/drawing/2014/main" id="{766BA0E6-0F84-2AE0-184E-CD9D52B2570B}"/>
              </a:ext>
            </a:extLst>
          </p:cNvPr>
          <p:cNvSpPr/>
          <p:nvPr/>
        </p:nvSpPr>
        <p:spPr>
          <a:xfrm>
            <a:off x="6643849" y="4596607"/>
            <a:ext cx="4589301" cy="1554956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zh-HK" altLang="en-US" sz="2400"/>
          </a:p>
        </p:txBody>
      </p:sp>
      <p:sp>
        <p:nvSpPr>
          <p:cNvPr id="5" name="Shape 10">
            <a:extLst>
              <a:ext uri="{FF2B5EF4-FFF2-40B4-BE49-F238E27FC236}">
                <a16:creationId xmlns:a16="http://schemas.microsoft.com/office/drawing/2014/main" id="{7C51FB95-73CE-930E-0314-AF62CC90B5AA}"/>
              </a:ext>
            </a:extLst>
          </p:cNvPr>
          <p:cNvSpPr/>
          <p:nvPr/>
        </p:nvSpPr>
        <p:spPr>
          <a:xfrm>
            <a:off x="6643849" y="4596607"/>
            <a:ext cx="76200" cy="155495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 sz="2400"/>
          </a:p>
        </p:txBody>
      </p:sp>
      <p:sp>
        <p:nvSpPr>
          <p:cNvPr id="7" name="Text 12">
            <a:extLst>
              <a:ext uri="{FF2B5EF4-FFF2-40B4-BE49-F238E27FC236}">
                <a16:creationId xmlns:a16="http://schemas.microsoft.com/office/drawing/2014/main" id="{EF1838B6-5024-D518-16CE-B1C202B9FED3}"/>
              </a:ext>
            </a:extLst>
          </p:cNvPr>
          <p:cNvSpPr/>
          <p:nvPr/>
        </p:nvSpPr>
        <p:spPr>
          <a:xfrm>
            <a:off x="6815300" y="4763488"/>
            <a:ext cx="4367050" cy="1147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67"/>
              </a:lnSpc>
            </a:pPr>
            <a:r>
              <a:rPr lang="en-US" altLang="zh-HK" sz="1500" b="1" kern="0" spc="1">
                <a:solidFill>
                  <a:srgbClr val="2563E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Key Benefit:</a:t>
            </a:r>
            <a:endParaRPr lang="en-US" sz="200" b="1">
              <a:solidFill>
                <a:srgbClr val="111827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just">
              <a:lnSpc>
                <a:spcPts val="2267"/>
              </a:lnSpc>
            </a:pPr>
            <a:r>
              <a:rPr lang="en-US" sz="1300" b="1">
                <a:solidFill>
                  <a:srgbClr val="111827"/>
                </a:solidFill>
                <a:latin typeface="Roboto"/>
                <a:ea typeface="Roboto"/>
                <a:cs typeface="Roboto"/>
              </a:rPr>
              <a:t>Even if Kernel enforcement is bypassed, the WASM layer provides a second, independent containment boundary. The host notebook session survives the attack.</a:t>
            </a:r>
            <a:endParaRPr lang="en-US" sz="1300">
              <a:latin typeface="Roboto"/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370860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0688C-1B0A-5397-8367-CB5A5AFE2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pydantic-monty</a:t>
            </a:r>
            <a:r>
              <a:rPr lang="en-US" altLang="zh-HK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(Custom Rust VM)</a:t>
            </a:r>
            <a:endParaRPr lang="zh-HK" altLang="en-US" dirty="0">
              <a:latin typeface="Roboto" panose="02000000000000000000" pitchFamily="2" charset="0"/>
              <a:ea typeface="新細明體"/>
              <a:cs typeface="Roboto" panose="02000000000000000000" pitchFamily="2" charset="0"/>
            </a:endParaRPr>
          </a:p>
        </p:txBody>
      </p:sp>
      <p:pic>
        <p:nvPicPr>
          <p:cNvPr id="16" name="Content Placeholder 12">
            <a:extLst>
              <a:ext uri="{FF2B5EF4-FFF2-40B4-BE49-F238E27FC236}">
                <a16:creationId xmlns:a16="http://schemas.microsoft.com/office/drawing/2014/main" id="{35E569C2-018F-7BAB-49B3-67DB7B0BA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88973"/>
            <a:ext cx="6713379" cy="3927475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2A8BA52D-EAF3-E24B-0DE8-A2D9F2D8D6DE}"/>
              </a:ext>
            </a:extLst>
          </p:cNvPr>
          <p:cNvGrpSpPr/>
          <p:nvPr/>
        </p:nvGrpSpPr>
        <p:grpSpPr>
          <a:xfrm>
            <a:off x="8236292" y="3078006"/>
            <a:ext cx="3644787" cy="1554956"/>
            <a:chOff x="6643849" y="4761707"/>
            <a:chExt cx="3644787" cy="1554956"/>
          </a:xfrm>
        </p:grpSpPr>
        <p:sp>
          <p:nvSpPr>
            <p:cNvPr id="10" name="Shape 9">
              <a:extLst>
                <a:ext uri="{FF2B5EF4-FFF2-40B4-BE49-F238E27FC236}">
                  <a16:creationId xmlns:a16="http://schemas.microsoft.com/office/drawing/2014/main" id="{2731796C-0D62-2943-EF35-D24098AEE281}"/>
                </a:ext>
              </a:extLst>
            </p:cNvPr>
            <p:cNvSpPr/>
            <p:nvPr/>
          </p:nvSpPr>
          <p:spPr>
            <a:xfrm>
              <a:off x="6662100" y="4761707"/>
              <a:ext cx="3626536" cy="1554956"/>
            </a:xfrm>
            <a:prstGeom prst="rect">
              <a:avLst/>
            </a:prstGeom>
            <a:solidFill>
              <a:srgbClr val="F3F4F6"/>
            </a:solidFill>
            <a:ln/>
          </p:spPr>
          <p:txBody>
            <a:bodyPr/>
            <a:lstStyle/>
            <a:p>
              <a:endParaRPr lang="zh-HK" altLang="en-US" sz="2400"/>
            </a:p>
          </p:txBody>
        </p:sp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CA8DA117-B5AC-9ED2-F542-316B4346187E}"/>
                </a:ext>
              </a:extLst>
            </p:cNvPr>
            <p:cNvSpPr/>
            <p:nvPr/>
          </p:nvSpPr>
          <p:spPr>
            <a:xfrm>
              <a:off x="6643849" y="4761707"/>
              <a:ext cx="76200" cy="1554956"/>
            </a:xfrm>
            <a:prstGeom prst="rect">
              <a:avLst/>
            </a:prstGeom>
            <a:solidFill>
              <a:srgbClr val="2563EB"/>
            </a:solidFill>
            <a:ln/>
          </p:spPr>
          <p:txBody>
            <a:bodyPr/>
            <a:lstStyle/>
            <a:p>
              <a:endParaRPr lang="zh-HK" altLang="en-US" sz="2400"/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DC98EC01-B3C8-1223-B75B-FE1AE359B983}"/>
                </a:ext>
              </a:extLst>
            </p:cNvPr>
            <p:cNvSpPr/>
            <p:nvPr/>
          </p:nvSpPr>
          <p:spPr>
            <a:xfrm>
              <a:off x="6828989" y="4841893"/>
              <a:ext cx="3271961" cy="144270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2267"/>
                </a:lnSpc>
              </a:pPr>
              <a:r>
                <a:rPr lang="en-US" altLang="zh-HK" sz="1500" b="1" kern="0" spc="1" dirty="0">
                  <a:solidFill>
                    <a:srgbClr val="2563EB"/>
                  </a:solidFill>
                  <a:latin typeface="Roboto"/>
                  <a:ea typeface="Roboto"/>
                  <a:cs typeface="Roboto"/>
                </a:rPr>
                <a:t>Key Feature:</a:t>
              </a:r>
              <a:endParaRPr lang="en-US" sz="200" b="1" dirty="0">
                <a:solidFill>
                  <a:srgbClr val="111827"/>
                </a:solidFill>
                <a:latin typeface="Roboto"/>
                <a:ea typeface="Roboto"/>
                <a:cs typeface="Roboto"/>
              </a:endParaRPr>
            </a:p>
            <a:p>
              <a:pPr algn="just">
                <a:lnSpc>
                  <a:spcPts val="2267"/>
                </a:lnSpc>
              </a:pPr>
              <a:r>
                <a:rPr lang="en-US" sz="1300" b="1" dirty="0">
                  <a:solidFill>
                    <a:srgbClr val="111827"/>
                  </a:solidFill>
                  <a:latin typeface="Roboto"/>
                  <a:ea typeface="Roboto"/>
                  <a:cs typeface="Roboto"/>
                </a:rPr>
                <a:t>Completely block access to the host environment: filesystem, env variables, and network access etc. Blazingly fast as written in Rust!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3911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26301-AD31-ABBF-F0C6-4882B045E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0FAFF-1D45-D2A4-C146-15D77B2EE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Sandboxing Technology Comparison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A2DA7A6-556A-FF2E-5649-7243F88ABD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1713931"/>
              </p:ext>
            </p:extLst>
          </p:nvPr>
        </p:nvGraphicFramePr>
        <p:xfrm>
          <a:off x="876070" y="1692826"/>
          <a:ext cx="10769829" cy="4354309"/>
        </p:xfrm>
        <a:graphic>
          <a:graphicData uri="http://schemas.openxmlformats.org/drawingml/2006/table">
            <a:tbl>
              <a:tblPr bandRow="1">
                <a:tableStyleId>{D27102A9-8310-4765-A935-A1911B00CA55}</a:tableStyleId>
              </a:tblPr>
              <a:tblGrid>
                <a:gridCol w="2540230">
                  <a:extLst>
                    <a:ext uri="{9D8B030D-6E8A-4147-A177-3AD203B41FA5}">
                      <a16:colId xmlns:a16="http://schemas.microsoft.com/office/drawing/2014/main" val="558298352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399431637"/>
                    </a:ext>
                  </a:extLst>
                </a:gridCol>
                <a:gridCol w="4165600">
                  <a:extLst>
                    <a:ext uri="{9D8B030D-6E8A-4147-A177-3AD203B41FA5}">
                      <a16:colId xmlns:a16="http://schemas.microsoft.com/office/drawing/2014/main" val="3827376623"/>
                    </a:ext>
                  </a:extLst>
                </a:gridCol>
                <a:gridCol w="1981199">
                  <a:extLst>
                    <a:ext uri="{9D8B030D-6E8A-4147-A177-3AD203B41FA5}">
                      <a16:colId xmlns:a16="http://schemas.microsoft.com/office/drawing/2014/main" val="358880677"/>
                    </a:ext>
                  </a:extLst>
                </a:gridCol>
              </a:tblGrid>
              <a:tr h="7444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Cold Start Latency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The Architectural Bottleneck (Why?)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50-Step Agent Loop Penalty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3242058"/>
                  </a:ext>
                </a:extLst>
              </a:tr>
              <a:tr h="8050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🐳 Standard Container (Docker / K8s)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~ 500 - 2,000 </a:t>
                      </a:r>
                      <a:r>
                        <a:rPr lang="en-US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ms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Allocates OS namespaces (PID, NET), </a:t>
                      </a:r>
                      <a:r>
                        <a:rPr lang="en-US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cgroups</a:t>
                      </a: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and network bridges.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+25 to 100 seconds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0478673"/>
                  </a:ext>
                </a:extLst>
              </a:tr>
              <a:tr h="7271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🔥 </a:t>
                      </a:r>
                      <a:r>
                        <a:rPr lang="en-US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MicroVM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(AWS Firecracker)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~ 120 - 250 ms</a:t>
                      </a:r>
                      <a:endParaRPr lang="en-US" err="1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Boots a minimal Linux Guest Kernel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+6 to 12 seconds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8008168"/>
                  </a:ext>
                </a:extLst>
              </a:tr>
              <a:tr h="1038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🕸️ </a:t>
                      </a:r>
                      <a:r>
                        <a:rPr lang="en-US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WebAssembly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</a:t>
                      </a:r>
                      <a:r>
                        <a:rPr lang="en-US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Pyodide</a:t>
                      </a: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/ </a:t>
                      </a:r>
                      <a:r>
                        <a:rPr lang="en-US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Wasmtime</a:t>
                      </a: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~ 50 - 150 </a:t>
                      </a:r>
                      <a:r>
                        <a:rPr lang="en-US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ms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Must load the massive 10MB+ CPython interpreter binary into WASM memory first.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+2.5 to 7.5 seconds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4623777"/>
                  </a:ext>
                </a:extLst>
              </a:tr>
              <a:tr h="1038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🦀 Rust Bytecode VM (</a:t>
                      </a:r>
                      <a:r>
                        <a:rPr lang="en-US" b="1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Pydantic</a:t>
                      </a:r>
                      <a:r>
                        <a:rPr lang="en-US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Monty)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&lt; 1 </a:t>
                      </a:r>
                      <a:r>
                        <a:rPr lang="en-US" b="1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ms</a:t>
                      </a:r>
                      <a:endParaRPr lang="en-US" b="1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No OS boundary. Parses AST directly via ruff and executes custom bytecode in-process.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&lt; 0.05 seconds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2599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0851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F3ECE-9748-19E5-B569-8D21A31BC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D17FD-4F49-B96D-BA1E-40F46AC67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Roadmap</a:t>
            </a:r>
            <a:endParaRPr lang="zh-HK" altLang="en-US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graphicFrame>
        <p:nvGraphicFramePr>
          <p:cNvPr id="74" name="Table 73">
            <a:extLst>
              <a:ext uri="{FF2B5EF4-FFF2-40B4-BE49-F238E27FC236}">
                <a16:creationId xmlns:a16="http://schemas.microsoft.com/office/drawing/2014/main" id="{63ED1FD2-8BE7-FD6B-E2CA-672DD9D550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243674"/>
              </p:ext>
            </p:extLst>
          </p:nvPr>
        </p:nvGraphicFramePr>
        <p:xfrm>
          <a:off x="2032000" y="2337231"/>
          <a:ext cx="8128000" cy="27871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0300">
                  <a:extLst>
                    <a:ext uri="{9D8B030D-6E8A-4147-A177-3AD203B41FA5}">
                      <a16:colId xmlns:a16="http://schemas.microsoft.com/office/drawing/2014/main" val="2809029835"/>
                    </a:ext>
                  </a:extLst>
                </a:gridCol>
                <a:gridCol w="7237700">
                  <a:extLst>
                    <a:ext uri="{9D8B030D-6E8A-4147-A177-3AD203B41FA5}">
                      <a16:colId xmlns:a16="http://schemas.microsoft.com/office/drawing/2014/main" val="1348020273"/>
                    </a:ext>
                  </a:extLst>
                </a:gridCol>
              </a:tblGrid>
              <a:tr h="696799">
                <a:tc>
                  <a:txBody>
                    <a:bodyPr/>
                    <a:lstStyle/>
                    <a:p>
                      <a:r>
                        <a:rPr lang="en-US" altLang="zh-HK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</a:t>
                      </a:r>
                      <a:endParaRPr lang="zh-HK" altLang="en-US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HK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Roboto"/>
                          <a:ea typeface="Roboto"/>
                          <a:cs typeface="Roboto"/>
                        </a:rPr>
                        <a:t>notebooks/01_os_level_rescue.ipynb</a:t>
                      </a:r>
                    </a:p>
                    <a:p>
                      <a:r>
                        <a:rPr lang="en-US" altLang="zh-HK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Roboto"/>
                          <a:ea typeface="Roboto"/>
                          <a:cs typeface="Roboto"/>
                        </a:rPr>
                        <a:t>Observe the baseline attack and build the kernel level policy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4047362"/>
                  </a:ext>
                </a:extLst>
              </a:tr>
              <a:tr h="696799">
                <a:tc>
                  <a:txBody>
                    <a:bodyPr/>
                    <a:lstStyle/>
                    <a:p>
                      <a:r>
                        <a:rPr lang="en-US" altLang="zh-HK">
                          <a:solidFill>
                            <a:sysClr val="windowText" lastClr="0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</a:t>
                      </a:r>
                      <a:endParaRPr lang="zh-HK" altLang="en-US">
                        <a:solidFill>
                          <a:sysClr val="windowText" lastClr="000000"/>
                        </a:solidFill>
                        <a:latin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HK" b="1" dirty="0">
                          <a:solidFill>
                            <a:srgbClr val="0070C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notebooks/02_secure_compute.ipynb</a:t>
                      </a:r>
                    </a:p>
                    <a:p>
                      <a:r>
                        <a:rPr lang="en-US" altLang="zh-HK" dirty="0">
                          <a:latin typeface="Roboto"/>
                          <a:ea typeface="Roboto"/>
                          <a:cs typeface="Roboto"/>
                        </a:rPr>
                        <a:t>Run Rust (Blazingly Fast!) sandbox demo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56361"/>
                  </a:ext>
                </a:extLst>
              </a:tr>
              <a:tr h="696799">
                <a:tc>
                  <a:txBody>
                    <a:bodyPr/>
                    <a:lstStyle/>
                    <a:p>
                      <a:r>
                        <a:rPr lang="en-US" altLang="zh-HK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</a:t>
                      </a:r>
                      <a:endParaRPr lang="zh-HK" altLang="en-US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HK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notebooks/03_mtls_auth.ipynb</a:t>
                      </a:r>
                    </a:p>
                    <a:p>
                      <a:r>
                        <a:rPr lang="en-US" altLang="zh-HK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Try keyless DB access with authorization policy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452042"/>
                  </a:ext>
                </a:extLst>
              </a:tr>
              <a:tr h="696799">
                <a:tc>
                  <a:txBody>
                    <a:bodyPr/>
                    <a:lstStyle/>
                    <a:p>
                      <a:r>
                        <a:rPr lang="en-US" altLang="zh-HK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4</a:t>
                      </a:r>
                      <a:endParaRPr lang="zh-HK" altLang="en-US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HK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notebooks/04_network_dlp.ipynb</a:t>
                      </a:r>
                    </a:p>
                    <a:p>
                      <a:r>
                        <a:rPr lang="en-US" altLang="zh-HK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Prevent data leaks with Network Data Loss Prevention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025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45952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35382-0CC6-0AE3-B918-E6D19672E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sz="3600">
                <a:latin typeface="Roboto"/>
                <a:ea typeface="Roboto"/>
                <a:cs typeface="Roboto"/>
              </a:rPr>
              <a:t>Credentials Factors</a:t>
            </a:r>
            <a:endParaRPr lang="en-US" altLang="zh-HK"/>
          </a:p>
        </p:txBody>
      </p:sp>
      <p:pic>
        <p:nvPicPr>
          <p:cNvPr id="5" name="Content Placeholder 4" descr="A review of the evolution of multi-factor authentication (MFA) technology -  TypingDNA Blog">
            <a:extLst>
              <a:ext uri="{FF2B5EF4-FFF2-40B4-BE49-F238E27FC236}">
                <a16:creationId xmlns:a16="http://schemas.microsoft.com/office/drawing/2014/main" id="{389E46D6-49B5-7B7A-AE33-9A36019291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2098" b="-182"/>
          <a:stretch>
            <a:fillRect/>
          </a:stretch>
        </p:blipFill>
        <p:spPr>
          <a:xfrm>
            <a:off x="1806886" y="2281067"/>
            <a:ext cx="8573609" cy="2748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7040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87557-9A27-6861-E9FA-554B32D99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HK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Path to Safety</a:t>
            </a:r>
            <a:endParaRPr kumimoji="1" lang="zh-HK" altLang="en-US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8FA8772-2B9B-8F47-DE34-0A0EFC143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HK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If I have no key, what to steal?</a:t>
            </a:r>
            <a:endParaRPr kumimoji="1" lang="zh-HK" altLang="en-US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2052" name="Picture 4" descr="20 Funny Big Brain Memes For Genius Smarty Pants">
            <a:extLst>
              <a:ext uri="{FF2B5EF4-FFF2-40B4-BE49-F238E27FC236}">
                <a16:creationId xmlns:a16="http://schemas.microsoft.com/office/drawing/2014/main" id="{E5C1D6C7-1AC9-5C28-9E17-74C34DC917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3900" y="2178844"/>
            <a:ext cx="3873500" cy="387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54574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26F25-B547-656B-EF8C-04F3348FD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EEF22-4D1B-F760-77C4-541B486FE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sz="36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Possession-based Credentials vs Inherent Identity</a:t>
            </a:r>
            <a:endParaRPr lang="zh-HK" altLang="en-US" sz="360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E1FD6F-4FA8-7C51-7D04-7987EA36B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52258"/>
            <a:ext cx="10515600" cy="178276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70000"/>
              </a:lnSpc>
            </a:pPr>
            <a:r>
              <a:rPr lang="en-US" altLang="zh-HK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Passwords, API keys, and tokens are possession-based credentials. If the LLM reads process memory or environment variables, it can steal them.</a:t>
            </a:r>
          </a:p>
          <a:p>
            <a:pPr>
              <a:lnSpc>
                <a:spcPct val="170000"/>
              </a:lnSpc>
            </a:pPr>
            <a:r>
              <a:rPr lang="en-US" altLang="zh-HK" sz="2000" dirty="0">
                <a:latin typeface="Roboto"/>
                <a:ea typeface="Roboto"/>
                <a:cs typeface="Roboto"/>
              </a:rPr>
              <a:t>We need inherent identity — something the </a:t>
            </a:r>
            <a:r>
              <a:rPr lang="en-US" altLang="zh-HK" sz="2000" b="1" dirty="0">
                <a:latin typeface="Roboto"/>
                <a:ea typeface="Roboto"/>
                <a:cs typeface="Roboto"/>
              </a:rPr>
              <a:t>workload is</a:t>
            </a:r>
            <a:r>
              <a:rPr lang="en-US" altLang="zh-HK" sz="2000" dirty="0">
                <a:latin typeface="Roboto"/>
                <a:ea typeface="Roboto"/>
                <a:cs typeface="Roboto"/>
              </a:rPr>
              <a:t>, not something </a:t>
            </a:r>
            <a:r>
              <a:rPr lang="en-US" altLang="zh-HK" sz="2000" b="1" dirty="0">
                <a:latin typeface="Roboto"/>
                <a:ea typeface="Roboto"/>
                <a:cs typeface="Roboto"/>
              </a:rPr>
              <a:t>it has</a:t>
            </a:r>
            <a:r>
              <a:rPr lang="en-US" altLang="zh-HK" sz="2000" dirty="0">
                <a:latin typeface="Roboto"/>
                <a:ea typeface="Roboto"/>
                <a:cs typeface="Roboto"/>
              </a:rPr>
              <a:t>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4FE8628-7643-A01D-6563-16DEA771FA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4929989"/>
              </p:ext>
            </p:extLst>
          </p:nvPr>
        </p:nvGraphicFramePr>
        <p:xfrm>
          <a:off x="1214817" y="1867867"/>
          <a:ext cx="9762379" cy="2198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878">
                  <a:extLst>
                    <a:ext uri="{9D8B030D-6E8A-4147-A177-3AD203B41FA5}">
                      <a16:colId xmlns:a16="http://schemas.microsoft.com/office/drawing/2014/main" val="1458442506"/>
                    </a:ext>
                  </a:extLst>
                </a:gridCol>
                <a:gridCol w="4008375">
                  <a:extLst>
                    <a:ext uri="{9D8B030D-6E8A-4147-A177-3AD203B41FA5}">
                      <a16:colId xmlns:a16="http://schemas.microsoft.com/office/drawing/2014/main" val="440655747"/>
                    </a:ext>
                  </a:extLst>
                </a:gridCol>
                <a:gridCol w="3254126">
                  <a:extLst>
                    <a:ext uri="{9D8B030D-6E8A-4147-A177-3AD203B41FA5}">
                      <a16:colId xmlns:a16="http://schemas.microsoft.com/office/drawing/2014/main" val="1303056824"/>
                    </a:ext>
                  </a:extLst>
                </a:gridCol>
              </a:tblGrid>
              <a:tr h="43977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HK">
                          <a:latin typeface="Roboto"/>
                          <a:ea typeface="Roboto"/>
                          <a:cs typeface="Roboto"/>
                        </a:rPr>
                        <a:t>Dimension</a:t>
                      </a:r>
                      <a:endParaRPr lang="zh-HK" altLang="en-US">
                        <a:latin typeface="Roboto"/>
                        <a:cs typeface="Roboto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HK" dirty="0">
                          <a:latin typeface="Roboto"/>
                          <a:ea typeface="Roboto"/>
                          <a:cs typeface="Roboto"/>
                        </a:rPr>
                        <a:t>Possession-based credentials</a:t>
                      </a:r>
                      <a:endParaRPr lang="zh-HK" altLang="en-US" dirty="0">
                        <a:latin typeface="Roboto"/>
                        <a:cs typeface="Roboto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HK">
                          <a:latin typeface="Roboto"/>
                          <a:ea typeface="Roboto"/>
                          <a:cs typeface="Roboto"/>
                        </a:rPr>
                        <a:t>Inherent identity</a:t>
                      </a:r>
                      <a:endParaRPr lang="zh-HK" altLang="en-US">
                        <a:latin typeface="Roboto"/>
                        <a:cs typeface="Roboto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5225363"/>
                  </a:ext>
                </a:extLst>
              </a:tr>
              <a:tr h="43977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HK">
                          <a:latin typeface="Roboto"/>
                          <a:ea typeface="Roboto"/>
                          <a:cs typeface="Roboto"/>
                        </a:rPr>
                        <a:t>Core idea</a:t>
                      </a:r>
                      <a:endParaRPr lang="zh-HK" altLang="en-US">
                        <a:latin typeface="Roboto"/>
                        <a:cs typeface="Roboto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HK" dirty="0">
                          <a:latin typeface="Roboto"/>
                          <a:ea typeface="Roboto"/>
                          <a:cs typeface="Roboto"/>
                        </a:rPr>
                        <a:t>Identity prove by secrets possessions</a:t>
                      </a:r>
                      <a:endParaRPr lang="en-US" altLang="zh-H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HK">
                          <a:latin typeface="Roboto"/>
                          <a:ea typeface="Roboto"/>
                          <a:cs typeface="Roboto"/>
                        </a:rPr>
                        <a:t>Identity</a:t>
                      </a:r>
                      <a:endParaRPr lang="zh-HK" altLang="en-US">
                        <a:latin typeface="Roboto"/>
                        <a:cs typeface="Roboto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2096002"/>
                  </a:ext>
                </a:extLst>
              </a:tr>
              <a:tr h="43977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HK">
                          <a:latin typeface="Roboto"/>
                          <a:ea typeface="Roboto"/>
                          <a:cs typeface="Roboto"/>
                        </a:rPr>
                        <a:t>Typical examples</a:t>
                      </a:r>
                      <a:endParaRPr lang="zh-HK" altLang="en-US">
                        <a:latin typeface="Roboto"/>
                        <a:cs typeface="Roboto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HK">
                          <a:latin typeface="Roboto"/>
                          <a:ea typeface="Roboto"/>
                          <a:cs typeface="Roboto"/>
                        </a:rPr>
                        <a:t>API key, token</a:t>
                      </a:r>
                      <a:endParaRPr lang="zh-HK" altLang="en-US">
                        <a:latin typeface="Roboto"/>
                        <a:cs typeface="Roboto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HK">
                          <a:latin typeface="Roboto"/>
                          <a:ea typeface="Roboto"/>
                          <a:cs typeface="Roboto"/>
                        </a:rPr>
                        <a:t>SPIFFE ID, </a:t>
                      </a:r>
                      <a:r>
                        <a:rPr lang="en-US" altLang="zh-HK" err="1">
                          <a:latin typeface="Roboto"/>
                          <a:ea typeface="Roboto"/>
                          <a:cs typeface="Roboto"/>
                        </a:rPr>
                        <a:t>mTLS</a:t>
                      </a:r>
                      <a:r>
                        <a:rPr lang="en-US" altLang="zh-HK">
                          <a:latin typeface="Roboto"/>
                          <a:ea typeface="Roboto"/>
                          <a:cs typeface="Roboto"/>
                        </a:rPr>
                        <a:t> cert</a:t>
                      </a:r>
                      <a:endParaRPr lang="zh-HK" altLang="en-US">
                        <a:latin typeface="Roboto"/>
                        <a:cs typeface="Roboto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1805099"/>
                  </a:ext>
                </a:extLst>
              </a:tr>
              <a:tr h="43977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HK">
                          <a:latin typeface="Roboto"/>
                          <a:ea typeface="Roboto"/>
                          <a:cs typeface="Roboto"/>
                        </a:rPr>
                        <a:t>Stored in</a:t>
                      </a:r>
                      <a:endParaRPr lang="zh-HK" altLang="en-US">
                        <a:latin typeface="Roboto"/>
                        <a:cs typeface="Roboto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HK" dirty="0">
                          <a:latin typeface="Roboto"/>
                          <a:ea typeface="Roboto"/>
                          <a:cs typeface="Roboto"/>
                        </a:rPr>
                        <a:t>Code / config / env</a:t>
                      </a:r>
                      <a:endParaRPr lang="zh-HK" altLang="en-US" dirty="0">
                        <a:latin typeface="Roboto"/>
                        <a:cs typeface="Roboto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HK">
                          <a:latin typeface="Roboto"/>
                          <a:ea typeface="Roboto"/>
                          <a:cs typeface="Roboto"/>
                        </a:rPr>
                        <a:t>Issued at runtime</a:t>
                      </a:r>
                      <a:endParaRPr lang="zh-HK" altLang="en-US">
                        <a:latin typeface="Roboto"/>
                        <a:cs typeface="Roboto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531190"/>
                  </a:ext>
                </a:extLst>
              </a:tr>
              <a:tr h="43977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HK">
                          <a:latin typeface="Roboto"/>
                          <a:ea typeface="Roboto"/>
                          <a:cs typeface="Roboto"/>
                        </a:rPr>
                        <a:t>Theft risk</a:t>
                      </a:r>
                      <a:endParaRPr lang="zh-HK" altLang="en-US">
                        <a:latin typeface="Roboto"/>
                        <a:cs typeface="Roboto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HK" dirty="0">
                          <a:latin typeface="Roboto"/>
                          <a:ea typeface="Roboto"/>
                          <a:cs typeface="Roboto"/>
                        </a:rPr>
                        <a:t>Easy to copy </a:t>
                      </a:r>
                      <a:r>
                        <a:rPr lang="en-US" altLang="zh-HK" b="1" dirty="0">
                          <a:latin typeface="Roboto"/>
                          <a:ea typeface="Roboto"/>
                          <a:cs typeface="Roboto"/>
                        </a:rPr>
                        <a:t>across internet</a:t>
                      </a:r>
                      <a:endParaRPr lang="zh-HK" altLang="en-US" b="0" dirty="0">
                        <a:latin typeface="Roboto"/>
                        <a:cs typeface="Roboto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HK" dirty="0">
                          <a:latin typeface="Roboto"/>
                          <a:ea typeface="Roboto"/>
                          <a:cs typeface="Roboto"/>
                        </a:rPr>
                        <a:t>Compromised host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85867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17671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78F91-AE65-64AD-E207-A8D6412D7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TLS vs Mutual TLS (</a:t>
            </a:r>
            <a:r>
              <a:rPr lang="en-US" altLang="zh-HK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mTLS</a:t>
            </a:r>
            <a:r>
              <a:rPr lang="en-US" altLang="zh-HK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</a:t>
            </a:r>
            <a:endParaRPr lang="zh-HK" altLang="en-US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253262-9B20-19F8-00B5-BD26795EBD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590" r="383"/>
          <a:stretch>
            <a:fillRect/>
          </a:stretch>
        </p:blipFill>
        <p:spPr>
          <a:xfrm>
            <a:off x="838200" y="1740694"/>
            <a:ext cx="6472337" cy="4463253"/>
          </a:xfrm>
          <a:prstGeom prst="rect">
            <a:avLst/>
          </a:prstGeom>
        </p:spPr>
      </p:pic>
      <p:sp>
        <p:nvSpPr>
          <p:cNvPr id="10" name="Shape 9">
            <a:extLst>
              <a:ext uri="{FF2B5EF4-FFF2-40B4-BE49-F238E27FC236}">
                <a16:creationId xmlns:a16="http://schemas.microsoft.com/office/drawing/2014/main" id="{FA47720D-7CE0-A8FA-BF8E-C57EA963179E}"/>
              </a:ext>
            </a:extLst>
          </p:cNvPr>
          <p:cNvSpPr/>
          <p:nvPr/>
        </p:nvSpPr>
        <p:spPr>
          <a:xfrm>
            <a:off x="7908740" y="3282549"/>
            <a:ext cx="4043080" cy="1402879"/>
          </a:xfrm>
          <a:prstGeom prst="rect">
            <a:avLst/>
          </a:prstGeom>
          <a:solidFill>
            <a:srgbClr val="F3F4F6"/>
          </a:solidFill>
          <a:ln/>
        </p:spPr>
        <p:txBody>
          <a:bodyPr lIns="91440" tIns="45720" rIns="91440" bIns="45720" anchor="t"/>
          <a:lstStyle/>
          <a:p>
            <a:r>
              <a:rPr lang="en-US" altLang="zh-HK" sz="17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Key takeaway: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HK" sz="1400" dirty="0">
                <a:latin typeface="Roboto"/>
                <a:ea typeface="Roboto"/>
                <a:cs typeface="Roboto"/>
              </a:rPr>
              <a:t>TLS: Client proves Server's identity</a:t>
            </a:r>
            <a:endParaRPr lang="en-US" altLang="zh-HK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HK" sz="1400" dirty="0" err="1">
                <a:latin typeface="Roboto"/>
                <a:ea typeface="Roboto"/>
                <a:cs typeface="Roboto"/>
              </a:rPr>
              <a:t>mTLS</a:t>
            </a:r>
            <a:r>
              <a:rPr lang="en-US" altLang="zh-HK" sz="1400" dirty="0">
                <a:latin typeface="Roboto"/>
                <a:ea typeface="Roboto"/>
                <a:cs typeface="Roboto"/>
              </a:rPr>
              <a:t>: Proves server identity + client identity</a:t>
            </a:r>
            <a:br>
              <a:rPr lang="en-US" altLang="zh-HK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altLang="zh-HK" sz="1400" dirty="0">
                <a:latin typeface="Roboto"/>
                <a:ea typeface="Roboto"/>
                <a:cs typeface="Roboto"/>
              </a:rPr>
              <a:t>(both sides authenticate)</a:t>
            </a:r>
            <a:endParaRPr lang="zh-HK" altLang="en-US" sz="1400" dirty="0">
              <a:latin typeface="Roboto"/>
              <a:cs typeface="Roboto"/>
            </a:endParaRPr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05BCFBBB-4091-FAB5-5DE0-78246D09BF91}"/>
              </a:ext>
            </a:extLst>
          </p:cNvPr>
          <p:cNvSpPr/>
          <p:nvPr/>
        </p:nvSpPr>
        <p:spPr>
          <a:xfrm>
            <a:off x="7854210" y="3282549"/>
            <a:ext cx="74451" cy="1402879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zh-HK" altLang="en-US" sz="2400"/>
          </a:p>
        </p:txBody>
      </p:sp>
    </p:spTree>
    <p:extLst>
      <p:ext uri="{BB962C8B-B14F-4D97-AF65-F5344CB8AC3E}">
        <p14:creationId xmlns:p14="http://schemas.microsoft.com/office/powerpoint/2010/main" val="8894946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C4B3F-62FF-E16E-96EB-E1F4E4150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8E9E0-48F3-0FDA-4EBA-C32345959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Roadmap</a:t>
            </a:r>
            <a:endParaRPr lang="zh-HK" altLang="en-US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graphicFrame>
        <p:nvGraphicFramePr>
          <p:cNvPr id="74" name="Table 73">
            <a:extLst>
              <a:ext uri="{FF2B5EF4-FFF2-40B4-BE49-F238E27FC236}">
                <a16:creationId xmlns:a16="http://schemas.microsoft.com/office/drawing/2014/main" id="{DDC6454A-8715-A4E5-C89D-B26D454E60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272916"/>
              </p:ext>
            </p:extLst>
          </p:nvPr>
        </p:nvGraphicFramePr>
        <p:xfrm>
          <a:off x="2032000" y="2337231"/>
          <a:ext cx="8128000" cy="27427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0300">
                  <a:extLst>
                    <a:ext uri="{9D8B030D-6E8A-4147-A177-3AD203B41FA5}">
                      <a16:colId xmlns:a16="http://schemas.microsoft.com/office/drawing/2014/main" val="2809029835"/>
                    </a:ext>
                  </a:extLst>
                </a:gridCol>
                <a:gridCol w="7237700">
                  <a:extLst>
                    <a:ext uri="{9D8B030D-6E8A-4147-A177-3AD203B41FA5}">
                      <a16:colId xmlns:a16="http://schemas.microsoft.com/office/drawing/2014/main" val="1348020273"/>
                    </a:ext>
                  </a:extLst>
                </a:gridCol>
              </a:tblGrid>
              <a:tr h="696799">
                <a:tc>
                  <a:txBody>
                    <a:bodyPr/>
                    <a:lstStyle/>
                    <a:p>
                      <a:r>
                        <a:rPr lang="en-US" altLang="zh-HK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</a:t>
                      </a:r>
                      <a:endParaRPr lang="zh-HK" altLang="en-US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HK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Roboto"/>
                          <a:ea typeface="Roboto"/>
                          <a:cs typeface="Roboto"/>
                        </a:rPr>
                        <a:t>notebooks/01_os_level_rescue.ipynb</a:t>
                      </a:r>
                    </a:p>
                    <a:p>
                      <a:r>
                        <a:rPr lang="en-US" altLang="zh-HK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Roboto"/>
                          <a:ea typeface="Roboto"/>
                          <a:cs typeface="Roboto"/>
                        </a:rPr>
                        <a:t>Observe the baseline attack and build the kernel level policy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4047362"/>
                  </a:ext>
                </a:extLst>
              </a:tr>
              <a:tr h="696799">
                <a:tc>
                  <a:txBody>
                    <a:bodyPr/>
                    <a:lstStyle/>
                    <a:p>
                      <a:r>
                        <a:rPr lang="en-US" altLang="zh-HK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</a:t>
                      </a:r>
                      <a:endParaRPr lang="zh-HK" altLang="en-US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HK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notebooks/02_secure_compute.ipynb</a:t>
                      </a:r>
                    </a:p>
                    <a:p>
                      <a:r>
                        <a:rPr lang="en-US" altLang="zh-HK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Roboto"/>
                          <a:ea typeface="Roboto"/>
                          <a:cs typeface="Roboto"/>
                        </a:rPr>
                        <a:t>Run Rust (Blazingly Fast!) sandbox demo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56361"/>
                  </a:ext>
                </a:extLst>
              </a:tr>
              <a:tr h="696799">
                <a:tc>
                  <a:txBody>
                    <a:bodyPr/>
                    <a:lstStyle/>
                    <a:p>
                      <a:r>
                        <a:rPr lang="en-US" altLang="zh-HK" dirty="0">
                          <a:solidFill>
                            <a:sysClr val="windowText" lastClr="0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</a:t>
                      </a:r>
                      <a:endParaRPr lang="zh-HK" altLang="en-US" dirty="0">
                        <a:solidFill>
                          <a:sysClr val="windowText" lastClr="000000"/>
                        </a:solidFill>
                        <a:latin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HK" b="1" dirty="0">
                          <a:solidFill>
                            <a:srgbClr val="0070C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notebooks/03_mtls_auth.ipynb</a:t>
                      </a:r>
                    </a:p>
                    <a:p>
                      <a:r>
                        <a:rPr lang="en-US" altLang="zh-HK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Try keyless DB access with authorization policy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452042"/>
                  </a:ext>
                </a:extLst>
              </a:tr>
              <a:tr h="652372">
                <a:tc>
                  <a:txBody>
                    <a:bodyPr/>
                    <a:lstStyle/>
                    <a:p>
                      <a:r>
                        <a:rPr lang="en-US" altLang="zh-HK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4</a:t>
                      </a:r>
                      <a:endParaRPr lang="zh-HK" altLang="en-US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HK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notebooks/04_network_dlp.ipynb</a:t>
                      </a:r>
                    </a:p>
                    <a:p>
                      <a:r>
                        <a:rPr lang="en-US" altLang="zh-HK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Prevent data leaks with Network Data Loss Prevention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025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7008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571500"/>
            <a:ext cx="10668000" cy="1079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67"/>
              </a:lnSpc>
            </a:pPr>
            <a:r>
              <a:rPr lang="en-US" sz="3200" b="1" kern="0" spc="-1" dirty="0">
                <a:solidFill>
                  <a:srgbClr val="11182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Layer 7 Egress Proxy</a:t>
            </a:r>
          </a:p>
          <a:p>
            <a:pPr>
              <a:lnSpc>
                <a:spcPts val="4267"/>
              </a:lnSpc>
            </a:pPr>
            <a:r>
              <a:rPr lang="en-US" sz="3200" b="1" kern="0" spc="-1" dirty="0">
                <a:solidFill>
                  <a:srgbClr val="11182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Turns an Open Pipe Into a Controlled Allow-List</a:t>
            </a:r>
            <a:endParaRPr lang="en-US" sz="3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62000" y="2955587"/>
            <a:ext cx="1127937" cy="224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316" b="1" kern="0" spc="3" dirty="0">
                <a:solidFill>
                  <a:srgbClr val="2563E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CONCEPT</a:t>
            </a:r>
            <a:endParaRPr lang="en-US" sz="1316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68314" y="3304348"/>
            <a:ext cx="4589301" cy="1691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67"/>
              </a:lnSpc>
            </a:pPr>
            <a:r>
              <a:rPr lang="en-US" sz="1453" b="1" dirty="0">
                <a:solidFill>
                  <a:srgbClr val="37415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Agents often need internet access to perform legitimate tasks (e.g., web search, API calls). An unrestricted outbound connection is an </a:t>
            </a:r>
            <a:r>
              <a:rPr lang="en-US" sz="1453" b="1" dirty="0">
                <a:solidFill>
                  <a:srgbClr val="11182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exfiltration cannon</a:t>
            </a:r>
            <a:r>
              <a:rPr lang="en-US" sz="1453" b="1" dirty="0">
                <a:solidFill>
                  <a:srgbClr val="37415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We need infrastructure-level Data Loss Prevention (DLP).</a:t>
            </a:r>
            <a:endParaRPr lang="en-US" sz="1453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922802" y="2240237"/>
            <a:ext cx="5507199" cy="227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316" b="1" kern="0" spc="3" dirty="0">
                <a:solidFill>
                  <a:srgbClr val="11182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IMPLEMENTATION — ISTIO EGRESS SERVICEENTRY</a:t>
            </a:r>
            <a:endParaRPr lang="en-US" sz="1316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265701" y="2664097"/>
            <a:ext cx="5164299" cy="291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33"/>
              </a:lnSpc>
            </a:pPr>
            <a:r>
              <a:rPr lang="en-US" sz="1453" b="1" dirty="0">
                <a:solidFill>
                  <a:srgbClr val="37415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All outbound traffic is routed through a </a:t>
            </a:r>
            <a:r>
              <a:rPr lang="en-US" sz="1453" b="1" dirty="0">
                <a:solidFill>
                  <a:srgbClr val="11182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Layer 7 Egress Proxy</a:t>
            </a:r>
            <a:r>
              <a:rPr lang="en-US" sz="1453" b="1" dirty="0">
                <a:solidFill>
                  <a:srgbClr val="37415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en-US" sz="1453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265701" y="3438005"/>
            <a:ext cx="125034" cy="2870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533"/>
              </a:lnSpc>
            </a:pPr>
            <a:r>
              <a:rPr lang="en-US" sz="1453" b="1">
                <a:solidFill>
                  <a:srgbClr val="37415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</a:t>
            </a:r>
            <a:endParaRPr lang="en-US" sz="1453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6468109" y="3471837"/>
            <a:ext cx="979992" cy="225723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zh-HK" altLang="en-US" sz="240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468108" y="3430860"/>
            <a:ext cx="979992" cy="264282"/>
          </a:xfrm>
          <a:prstGeom prst="rect">
            <a:avLst/>
          </a:prstGeom>
          <a:noFill/>
          <a:ln/>
        </p:spPr>
        <p:txBody>
          <a:bodyPr wrap="none" lIns="90763" tIns="45381" rIns="90763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045" b="1" dirty="0" err="1">
                <a:solidFill>
                  <a:srgbClr val="FAFAF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ServiceEntry</a:t>
            </a:r>
            <a:endParaRPr lang="en-US" sz="1045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7717818" y="3438005"/>
            <a:ext cx="1668727" cy="2870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533"/>
              </a:lnSpc>
            </a:pPr>
            <a:r>
              <a:rPr lang="en-US" sz="1453" b="1" dirty="0">
                <a:solidFill>
                  <a:srgbClr val="37415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explicitly allow-lists</a:t>
            </a:r>
            <a:endParaRPr lang="en-US" sz="1453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265702" y="3752330"/>
            <a:ext cx="1545295" cy="2870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533"/>
              </a:lnSpc>
            </a:pPr>
            <a:r>
              <a:rPr lang="en-US" sz="1453" b="1" dirty="0" err="1">
                <a:solidFill>
                  <a:srgbClr val="11182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api.agentcon.local</a:t>
            </a:r>
            <a:endParaRPr lang="en-US" sz="1453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7942102" y="3765826"/>
            <a:ext cx="2409314" cy="2870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533"/>
              </a:lnSpc>
            </a:pPr>
            <a:r>
              <a:rPr lang="en-US" sz="1453" b="1" dirty="0">
                <a:solidFill>
                  <a:srgbClr val="37415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 legitimate news fetching.</a:t>
            </a:r>
            <a:endParaRPr lang="en-US" sz="1453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6265701" y="4149997"/>
            <a:ext cx="5164299" cy="612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33"/>
              </a:lnSpc>
            </a:pPr>
            <a:r>
              <a:rPr lang="en-US" sz="1453" b="1" dirty="0">
                <a:solidFill>
                  <a:srgbClr val="37415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All other destinations (including </a:t>
            </a:r>
            <a:r>
              <a:rPr lang="en-US" sz="1453" b="1" dirty="0" err="1">
                <a:solidFill>
                  <a:srgbClr val="11182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evil.com</a:t>
            </a:r>
            <a:r>
              <a:rPr lang="en-US" sz="1453" b="1" dirty="0">
                <a:solidFill>
                  <a:srgbClr val="37415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 are </a:t>
            </a:r>
            <a:r>
              <a:rPr lang="en-US" sz="1453" b="1" dirty="0">
                <a:solidFill>
                  <a:srgbClr val="11182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default-denied</a:t>
            </a:r>
            <a:r>
              <a:rPr lang="en-US" sz="1453" b="1" dirty="0">
                <a:solidFill>
                  <a:srgbClr val="37415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blackholed.</a:t>
            </a:r>
            <a:endParaRPr lang="en-US" sz="1453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6265701" y="4892949"/>
            <a:ext cx="5164299" cy="612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33"/>
              </a:lnSpc>
            </a:pPr>
            <a:r>
              <a:rPr lang="en-US" sz="1453" b="1" dirty="0">
                <a:solidFill>
                  <a:srgbClr val="37415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agent can fetch the news API successfully, but the exfiltration attempt is silently dropped.</a:t>
            </a:r>
            <a:endParaRPr lang="en-US" sz="1453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7C0D2-4091-96AD-20F1-79A699BBB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62118-1C59-6051-3137-3252D3269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Roadmap</a:t>
            </a:r>
            <a:endParaRPr lang="zh-HK" altLang="en-US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graphicFrame>
        <p:nvGraphicFramePr>
          <p:cNvPr id="74" name="Table 73">
            <a:extLst>
              <a:ext uri="{FF2B5EF4-FFF2-40B4-BE49-F238E27FC236}">
                <a16:creationId xmlns:a16="http://schemas.microsoft.com/office/drawing/2014/main" id="{26E5382A-5AF4-F189-4B13-74914A0DF9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350042"/>
              </p:ext>
            </p:extLst>
          </p:nvPr>
        </p:nvGraphicFramePr>
        <p:xfrm>
          <a:off x="2032000" y="2337231"/>
          <a:ext cx="8128000" cy="27871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0300">
                  <a:extLst>
                    <a:ext uri="{9D8B030D-6E8A-4147-A177-3AD203B41FA5}">
                      <a16:colId xmlns:a16="http://schemas.microsoft.com/office/drawing/2014/main" val="2809029835"/>
                    </a:ext>
                  </a:extLst>
                </a:gridCol>
                <a:gridCol w="7237700">
                  <a:extLst>
                    <a:ext uri="{9D8B030D-6E8A-4147-A177-3AD203B41FA5}">
                      <a16:colId xmlns:a16="http://schemas.microsoft.com/office/drawing/2014/main" val="1348020273"/>
                    </a:ext>
                  </a:extLst>
                </a:gridCol>
              </a:tblGrid>
              <a:tr h="696799">
                <a:tc>
                  <a:txBody>
                    <a:bodyPr/>
                    <a:lstStyle/>
                    <a:p>
                      <a:r>
                        <a:rPr lang="en-US" altLang="zh-HK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</a:t>
                      </a:r>
                      <a:endParaRPr lang="zh-HK" altLang="en-US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HK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Roboto"/>
                          <a:ea typeface="Roboto"/>
                          <a:cs typeface="Roboto"/>
                        </a:rPr>
                        <a:t>notebooks/01_os_level_rescue.ipynb</a:t>
                      </a:r>
                    </a:p>
                    <a:p>
                      <a:r>
                        <a:rPr lang="en-US" altLang="zh-HK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Roboto"/>
                          <a:ea typeface="Roboto"/>
                          <a:cs typeface="Roboto"/>
                        </a:rPr>
                        <a:t>Observe the baseline attack and build the kernel level policy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4047362"/>
                  </a:ext>
                </a:extLst>
              </a:tr>
              <a:tr h="696799">
                <a:tc>
                  <a:txBody>
                    <a:bodyPr/>
                    <a:lstStyle/>
                    <a:p>
                      <a:r>
                        <a:rPr lang="en-US" altLang="zh-HK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</a:t>
                      </a:r>
                      <a:endParaRPr lang="zh-HK" altLang="en-US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HK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notebooks/02_secure_compute.ipynb</a:t>
                      </a:r>
                    </a:p>
                    <a:p>
                      <a:r>
                        <a:rPr lang="en-US" altLang="zh-HK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Roboto"/>
                          <a:ea typeface="Roboto"/>
                          <a:cs typeface="Roboto"/>
                        </a:rPr>
                        <a:t>Run Rust (Blazingly Fast!) sandbox demo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56361"/>
                  </a:ext>
                </a:extLst>
              </a:tr>
              <a:tr h="696799">
                <a:tc>
                  <a:txBody>
                    <a:bodyPr/>
                    <a:lstStyle/>
                    <a:p>
                      <a:r>
                        <a:rPr lang="en-US" altLang="zh-HK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</a:t>
                      </a:r>
                      <a:endParaRPr lang="zh-HK" altLang="en-US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HK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notebooks/03_mtls_auth.ipynb</a:t>
                      </a:r>
                    </a:p>
                    <a:p>
                      <a:r>
                        <a:rPr lang="en-US" altLang="zh-HK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Try keyless DB access with authorization policy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452042"/>
                  </a:ext>
                </a:extLst>
              </a:tr>
              <a:tr h="696799">
                <a:tc>
                  <a:txBody>
                    <a:bodyPr/>
                    <a:lstStyle/>
                    <a:p>
                      <a:r>
                        <a:rPr lang="en-US" altLang="zh-HK" dirty="0">
                          <a:solidFill>
                            <a:sysClr val="windowText" lastClr="0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4</a:t>
                      </a:r>
                      <a:endParaRPr lang="zh-HK" altLang="en-US" dirty="0">
                        <a:solidFill>
                          <a:sysClr val="windowText" lastClr="000000"/>
                        </a:solidFill>
                        <a:latin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HK" b="1" dirty="0">
                          <a:solidFill>
                            <a:srgbClr val="0070C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notebooks/04_network_dlp.ipynb</a:t>
                      </a:r>
                    </a:p>
                    <a:p>
                      <a:r>
                        <a:rPr lang="en-US" altLang="zh-HK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Prevent data leaks with Network Data Loss Prevention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025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08160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090288-06F0-39A9-6C38-45D0E647F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HK" sz="4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Wrap-up</a:t>
            </a:r>
            <a:endParaRPr kumimoji="1" lang="zh-HK" altLang="en-US" sz="4000" b="1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122F97C-2832-AA96-3823-1A4AD1F87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kumimoji="1" lang="en" altLang="zh-HK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Threat is indirect prompt injection: malicious instructions hidden in retrieved content, not the user’s prompt.</a:t>
            </a:r>
          </a:p>
          <a:p>
            <a:pPr>
              <a:lnSpc>
                <a:spcPct val="160000"/>
              </a:lnSpc>
            </a:pPr>
            <a:r>
              <a:rPr kumimoji="1" lang="en" altLang="zh-HK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Principle: </a:t>
            </a:r>
            <a:r>
              <a:rPr kumimoji="1" lang="en" altLang="zh-HK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Don’t trust the agent. Trust the infrastructure.</a:t>
            </a:r>
          </a:p>
          <a:p>
            <a:pPr>
              <a:lnSpc>
                <a:spcPct val="160000"/>
              </a:lnSpc>
            </a:pPr>
            <a:r>
              <a:rPr kumimoji="1" lang="en" altLang="zh-HK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Takeaway: </a:t>
            </a:r>
            <a:r>
              <a:rPr kumimoji="1" lang="en" altLang="zh-HK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Assume compromise; minimize blast radius so failures are contained and observable, not catastrophic.</a:t>
            </a:r>
            <a:endParaRPr kumimoji="1" lang="zh-HK" altLang="en-US" sz="2400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3252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77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r>
              <a:rPr lang="zh-TW">
                <a:latin typeface="Roboto"/>
                <a:ea typeface="Roboto"/>
                <a:cs typeface="Roboto"/>
                <a:sym typeface="Roboto"/>
              </a:rPr>
              <a:t>Q &amp; 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ecure_agent" id="{2A4F44BD-CA80-1346-B205-0520E9A4A3F6}" vid="{0EE729AE-2936-DE46-B954-C369162B08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1370</Words>
  <Application>Microsoft Macintosh PowerPoint</Application>
  <PresentationFormat>寬螢幕</PresentationFormat>
  <Paragraphs>213</Paragraphs>
  <Slides>24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Roboto</vt:lpstr>
      <vt:lpstr>Office Theme</vt:lpstr>
      <vt:lpstr>Jailbreaking the Ghost: Anatomy of a Secure Agent</vt:lpstr>
      <vt:lpstr>Lab Login</vt:lpstr>
      <vt:lpstr>Quick Introduction</vt:lpstr>
      <vt:lpstr>QR Codes</vt:lpstr>
      <vt:lpstr>We Built an RCE Engine with a Friendly Personality</vt:lpstr>
      <vt:lpstr>Threat Model</vt:lpstr>
      <vt:lpstr>Don't Trust the Agent. Trust the Infrastructure.</vt:lpstr>
      <vt:lpstr>Roadmap</vt:lpstr>
      <vt:lpstr>PowerPoint 簡報</vt:lpstr>
      <vt:lpstr>PowerPoint 簡報</vt:lpstr>
      <vt:lpstr>Roadmap</vt:lpstr>
      <vt:lpstr>Sandboxing: Default-deny Privileges</vt:lpstr>
      <vt:lpstr>pydantic-monty (Custom Rust VM)</vt:lpstr>
      <vt:lpstr>Sandboxing Technology Comparison</vt:lpstr>
      <vt:lpstr>Roadmap</vt:lpstr>
      <vt:lpstr>Credentials Factors</vt:lpstr>
      <vt:lpstr>Path to Safety</vt:lpstr>
      <vt:lpstr>Possession-based Credentials vs Inherent Identity</vt:lpstr>
      <vt:lpstr>TLS vs Mutual TLS (mTLS)</vt:lpstr>
      <vt:lpstr>Roadmap</vt:lpstr>
      <vt:lpstr>PowerPoint 簡報</vt:lpstr>
      <vt:lpstr>Roadmap</vt:lpstr>
      <vt:lpstr>Wrap-up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Wai Yin Henry Wong</dc:creator>
  <cp:lastModifiedBy>Wong, Wai Yin H</cp:lastModifiedBy>
  <cp:revision>2</cp:revision>
  <dcterms:created xsi:type="dcterms:W3CDTF">2026-04-10T14:07:35Z</dcterms:created>
  <dcterms:modified xsi:type="dcterms:W3CDTF">2026-04-11T08:17:24Z</dcterms:modified>
</cp:coreProperties>
</file>